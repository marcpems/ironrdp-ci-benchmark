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8" d="100"/>
          <a:sy n="98" d="100"/>
        </p:scale>
        <p:origin x="6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B1CA-BF3C-B098-ACD3-87046EF39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22B74-5DA6-30B5-9D03-FA0398CC1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39FFB-44CD-19A7-380D-30E30E70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E50F3-575F-5430-F3EE-3E476FCD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1E255-B232-B0C1-8327-936D6409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065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F0CA2-0B18-B687-32CD-FC042A31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B46C4-BA3A-FA07-DBEC-20EAA232A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2023E-03AB-778F-514A-3238E9258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978B7-673F-6C34-EAE4-817E6836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812CC-1D41-8D42-3499-A4E1827D0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37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2297C-7177-405B-748E-CB4F92734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B357C-86ED-4ADB-2D29-6C91BBBD4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92C63-0E9B-B737-70D8-2555B26DB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405F9-A629-81E0-6981-64CCBF766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4A114-8084-899F-291D-E917637F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96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34B63-E432-C61D-522B-2ED9DA6A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2E4C8-E34A-4FA5-CC54-1A2D3BCD7A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8EBA4-D60A-CA7C-19A1-92A236B3D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54C067-C006-816B-8917-2ADC3C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84AE6-6A49-668B-4B2E-6F6129A81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66F74-F12A-3BE3-1BF9-D88E42CD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7596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23E25-DEF4-2078-7018-0B3E1410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2C5B0-C753-5BF0-77E0-77364FAAA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3646DF-B51F-2785-3991-183E7BBC2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1F5034-F108-B41D-74B0-9C0EC7CA60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74036C-B004-59EB-58AC-D51F82A61F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B627A6-CA12-6F28-1D14-5D3920262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7B1BD6-9EEF-827B-8C31-ABFBDB9B9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5F36A9-FE15-5560-E6C3-3EFF7461B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9974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DA84-E4B8-0789-4C79-754DCB540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D5A62-3E59-3DCC-C936-19987D6E0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876D8-DB9B-789B-A9E3-B9B7C1594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4353D-D9F4-8A58-595F-2C24968F2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696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5D87CE-A30B-3A8B-4F0D-F9A4DC36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BBB630-9C00-7582-3C2B-E6B7D8491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ACA51-79AC-692E-F6BB-694CD425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74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16A95-8DB1-B75D-FD4C-66C549E6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66B0C-1682-6EDE-2A28-F2A4547B8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D87E6-4F1A-CB15-91C4-C83BF968C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76973-FDD4-FD2A-2A8C-C91246C74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D2F6-7F79-98C2-9670-FEE850CC5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81840-8A03-152D-AB44-A9A77AAEA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768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B4A2A-4156-D99F-548D-9A6F2B881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08882-7AB3-0301-26AE-F2263CB877E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3EA9E-BA8A-430E-72D7-F3A2ECAD6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8098B-C04F-B153-8A8F-2C0BA9745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0A4CD8-61BE-2B72-CEDE-76B9AC0B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DAAF6-53CC-B9FA-E695-FF3D344B2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051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602B0-E6F3-EC87-7804-CC7E464A1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FA33FA-E2AD-09E4-AD41-019A8A09E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4F45D-B970-4625-D53D-32E07022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87FC5-50F5-AE1B-FBBC-974DC635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1C351-AA91-DA39-AF1A-BF3FC1FF3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537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1A1B54-A9F5-AB96-63E3-42A85617DC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CCBAD-4042-425A-0319-BABA8143E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08D2B-B45E-C69C-1694-A30A49808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5DF07-3CCE-BD7B-7A39-1DF4F6424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2BB95-D2DC-7BED-759E-F22189C07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4684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A474FB-9BB7-59A3-DF4F-FF4B91BE4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2BE65-75B6-D107-B53C-C8198E24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CF298-DFC5-744C-B60E-55F00BC527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8CB47-1FE6-5A52-4449-9B343EB5A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8EA77-4587-810B-9750-B156E2F8D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507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pems/IronRDP-ci-benchmark/blob/6fa9b2fd/ci-benchmark/COMBINED-REPORT.md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pems/IronRDP-ci-benchmark/blob/6fa9b2fd/ci-benchmark/matched-release/README.md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pems/IronRDP-ci-benchmark/blob/6fa9b2fd/ci-benchmark/matched-release/README.md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pems/IronRDP-ci-benchmark/blob/6fa9b2fd/ci-benchmark/matched-release/README.md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pems/IronRDP-ci-benchmark/blob/6fa9b2fd/ci-benchmark/matched-release/README.md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pems/IronRDP-ci-benchmark/blob/6fa9b2fd/ci-benchmark/matched-release/README.md" TargetMode="External"/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8" Type="http://schemas.openxmlformats.org/officeDocument/2006/relationships/hyperlink" Target="https://github.com/marcpems/IronRDP-ci-benchmark/blob/0225ddaf53eaf227c36daa519c9a378349c08557/ci-benchmark/NATIVE-AB-RESULTS.md" TargetMode="External"/><Relationship Id="rId3" Type="http://schemas.openxmlformats.org/officeDocument/2006/relationships/hyperlink" Target="https://github.com/marcpems/IronRDP-ci-benchmark/blob/0225ddaf53eaf227c36daa519c9a378349c08557/ci-benchmark/COMBINED-REPORT.md" TargetMode="External"/><Relationship Id="rId7" Type="http://schemas.openxmlformats.org/officeDocument/2006/relationships/hyperlink" Target="https://github.com/marcpems/IronRDP-ci-benchmark/blob/0225ddaf53eaf227c36daa519c9a378349c08557/ci-benchmark/X64-NATIVE-RESULTS.md" TargetMode="External"/><Relationship Id="rId12" Type="http://schemas.openxmlformats.org/officeDocument/2006/relationships/hyperlink" Target="https://github.com/marcpems/IronRDP-ci-benchmark/blob/experiment/matched-release/ci-benchmark/matched-release/Rust-Optimization-Combined-Report-Revised.docx" TargetMode="External"/><Relationship Id="rId2" Type="http://schemas.openxmlformats.org/officeDocument/2006/relationships/hyperlink" Target="https://github.com/marcpems/IronRDP-ci-benchmark/blob/0225ddaf53eaf227c36daa519c9a378349c08557/ci-benchmark/INVESTIGATION-SUMMARY.m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marcpems/IronRDP-ci-benchmark/blob/0225ddaf53eaf227c36daa519c9a378349c08557/ci-benchmark/COMPILER-RESULTS.md" TargetMode="External"/><Relationship Id="rId11" Type="http://schemas.openxmlformats.org/officeDocument/2006/relationships/hyperlink" Target="https://github.com/marcpems/IronRDP-ci-benchmark/blob/0225ddaf53eaf227c36daa519c9a378349c08557/ci-benchmark/Windows-Rust-Performance-Summary.docx" TargetMode="External"/><Relationship Id="rId5" Type="http://schemas.openxmlformats.org/officeDocument/2006/relationships/hyperlink" Target="https://github.com/marcpems/IronRDP-ci-benchmark/blob/0225ddaf53eaf227c36daa519c9a378349c08557/ci-benchmark/NATIVE-BREAKDOWN.md" TargetMode="External"/><Relationship Id="rId10" Type="http://schemas.openxmlformats.org/officeDocument/2006/relationships/hyperlink" Target="https://github.com/marcpems/IronRDP-ci-benchmark/blob/0225ddaf53eaf227c36daa519c9a378349c08557/ci-benchmark/ARM64-AB-RESULTS.md" TargetMode="External"/><Relationship Id="rId4" Type="http://schemas.openxmlformats.org/officeDocument/2006/relationships/hyperlink" Target="https://github.com/marcpems/IronRDP-ci-benchmark/blob/0225ddaf53eaf227c36daa519c9a378349c08557/ci-benchmark/REPORT.md" TargetMode="External"/><Relationship Id="rId9" Type="http://schemas.openxmlformats.org/officeDocument/2006/relationships/hyperlink" Target="https://github.com/marcpems/IronRDP-ci-benchmark/blob/0225ddaf53eaf227c36daa519c9a378349c08557/ci-benchmark/X64-COMPILER-RESULTS.md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arcpems/IronRDP-ci-benchmark/blob/0225ddaf53eaf227c36daa519c9a378349c08557/ci-benchmark/msvc-linker/RUNTIME-DIAGNOSTICS.md" TargetMode="External"/><Relationship Id="rId3" Type="http://schemas.openxmlformats.org/officeDocument/2006/relationships/hyperlink" Target="https://github.com/marcpems/IronRDP-ci-benchmark/blob/0225ddaf53eaf227c36daa519c9a378349c08557/ci-benchmark/matched-release/selfhost-pilot-results.json" TargetMode="External"/><Relationship Id="rId7" Type="http://schemas.openxmlformats.org/officeDocument/2006/relationships/hyperlink" Target="https://github.com/marcpems/IronRDP-ci-benchmark/blob/0225ddaf53eaf227c36daa519c9a378349c08557/ci-benchmark/msvc-linker/README.md" TargetMode="External"/><Relationship Id="rId12" Type="http://schemas.openxmlformats.org/officeDocument/2006/relationships/hyperlink" Target="https://github.com/marcpems/IronRDP-ci-benchmark/blob/0225ddaf53eaf227c36daa519c9a378349c08557/ci-benchmark/matched-release/Rust-Compiler-Optimization-Maintainer-Brief.docx" TargetMode="External"/><Relationship Id="rId2" Type="http://schemas.openxmlformats.org/officeDocument/2006/relationships/hyperlink" Target="https://github.com/marcpems/IronRDP-ci-benchmark/blob/0225ddaf53eaf227c36daa519c9a378349c08557/ci-benchmark/matched-release/README.m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marcpems/IronRDP-ci-benchmark/blob/0225ddaf53eaf227c36daa519c9a378349c08557/ci-benchmark/release-throughput/README.md" TargetMode="External"/><Relationship Id="rId11" Type="http://schemas.openxmlformats.org/officeDocument/2006/relationships/hyperlink" Target="https://github.com/marcpems/IronRDP-ci-benchmark/blob/0225ddaf53eaf227c36daa519c9a378349c08557/ci-benchmark/OPTIMIZED-TOOLCHAIN.md" TargetMode="External"/><Relationship Id="rId5" Type="http://schemas.openxmlformats.org/officeDocument/2006/relationships/hyperlink" Target="https://github.com/marcpems/IronRDP-ci-benchmark/blob/0225ddaf53eaf227c36daa519c9a378349c08557/ci-benchmark/upstream-release-throughput/README.md" TargetMode="External"/><Relationship Id="rId10" Type="http://schemas.openxmlformats.org/officeDocument/2006/relationships/hyperlink" Target="https://github.com/marcpems/IronRDP-ci-benchmark/blob/0225ddaf53eaf227c36daa519c9a378349c08557/ci-benchmark/WINDOWS-X64-OPTIMIZATION.md" TargetMode="External"/><Relationship Id="rId4" Type="http://schemas.openxmlformats.org/officeDocument/2006/relationships/hyperlink" Target="https://github.com/marcpems/IronRDP-ci-benchmark/blob/0225ddaf53eaf227c36daa519c9a378349c08557/ci-benchmark/matched-release/gb300-release-costs.json" TargetMode="External"/><Relationship Id="rId9" Type="http://schemas.openxmlformats.org/officeDocument/2006/relationships/hyperlink" Target="https://github.com/marcpems/IronRDP-ci-benchmark/blob/96e8f5d65ffd6d50955c9480b3ae8bdcfe3251ff/ci-benchmark/build-time/READM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41E54-C336-A2FB-1558-7EE51DC53FFA}"/>
              </a:ext>
            </a:extLst>
          </p:cNvPr>
          <p:cNvSpPr txBox="1"/>
          <p:nvPr/>
        </p:nvSpPr>
        <p:spPr>
          <a:xfrm>
            <a:off x="609600" y="380999"/>
            <a:ext cx="10972800" cy="77470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4324F"/>
                </a:solidFill>
                <a:latin typeface="Calibri" panose="020F0502020204030204" pitchFamily="34" charset="0"/>
              </a:rPr>
              <a:t>Problem: Rust compilation takes longer on Windows vs Linux / Mac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506072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IronRDP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06072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investigation prompted by the Windows build-time gap reported by Marc-Andre Moreau.</a:t>
            </a:r>
          </a:p>
          <a:p>
            <a:endParaRPr lang="en-GB" sz="28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3733CD3-E7D1-D69E-6734-FF05C84B7F56}"/>
              </a:ext>
            </a:extLst>
          </p:cNvPr>
          <p:cNvSpPr txBox="1"/>
          <p:nvPr/>
        </p:nvSpPr>
        <p:spPr>
          <a:xfrm>
            <a:off x="609600" y="1327554"/>
            <a:ext cx="10972800" cy="933046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Verified initial Windows/Linux: 1.82x x64</a:t>
            </a: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 / </a:t>
            </a:r>
            <a:r>
              <a:rPr lang="en-US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1.69x Arm64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Test: execute standard </a:t>
            </a:r>
            <a:r>
              <a:rPr lang="en-US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IronRDP</a:t>
            </a: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 CI job</a:t>
            </a:r>
            <a:r>
              <a:rPr lang="en-US" sz="1600" baseline="30000" dirty="0">
                <a:solidFill>
                  <a:srgbClr val="506072"/>
                </a:solidFill>
                <a:latin typeface="Calibri" panose="020F0502020204030204" pitchFamily="34" charset="0"/>
              </a:rPr>
              <a:t>*</a:t>
            </a: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 for 3 iterations on standard GitHub runners on Windows (x64, Arm64) &amp; Linux (x64, Arm64)</a:t>
            </a:r>
          </a:p>
          <a:p>
            <a:r>
              <a:rPr lang="en-US" sz="1200" dirty="0">
                <a:solidFill>
                  <a:srgbClr val="506072"/>
                </a:solidFill>
                <a:latin typeface="Calibri" panose="020F0502020204030204" pitchFamily="34" charset="0"/>
              </a:rPr>
              <a:t>*setup, transfers and test execution excluded.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ACC12C-6A7D-6205-2CBE-36CB0BC18884}"/>
              </a:ext>
            </a:extLst>
          </p:cNvPr>
          <p:cNvSpPr/>
          <p:nvPr/>
        </p:nvSpPr>
        <p:spPr>
          <a:xfrm>
            <a:off x="609600" y="21590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0562D953-7E23-A268-33E0-B169DB0E8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747641"/>
              </p:ext>
            </p:extLst>
          </p:nvPr>
        </p:nvGraphicFramePr>
        <p:xfrm>
          <a:off x="609600" y="2692400"/>
          <a:ext cx="1097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89925164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734944327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131295178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273668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Platform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Shipping Rust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Optimized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Reduction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93065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Windows x64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957.41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730.64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23.7%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10032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Windows Arm64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709.64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595.99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16.0%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155812"/>
                  </a:ext>
                </a:extLst>
              </a:tr>
            </a:tbl>
          </a:graphicData>
        </a:graphic>
      </p:graphicFrame>
      <p:sp>
        <p:nvSpPr>
          <p:cNvPr id="7" name="Note-398">
            <a:extLst>
              <a:ext uri="{FF2B5EF4-FFF2-40B4-BE49-F238E27FC236}">
                <a16:creationId xmlns:a16="http://schemas.microsoft.com/office/drawing/2014/main" id="{C077F2C9-34DD-6349-E3DE-7D320B4169CA}"/>
              </a:ext>
            </a:extLst>
          </p:cNvPr>
          <p:cNvSpPr txBox="1"/>
          <p:nvPr/>
        </p:nvSpPr>
        <p:spPr>
          <a:xfrm>
            <a:off x="603115" y="4457700"/>
            <a:ext cx="10972800" cy="192364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600" b="1" dirty="0">
                <a:solidFill>
                  <a:srgbClr val="007F8B"/>
                </a:solidFill>
                <a:latin typeface="Calibri" panose="020F0502020204030204" pitchFamily="34" charset="0"/>
              </a:rPr>
              <a:t>Optimization summary: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007F8B"/>
                </a:solidFill>
                <a:latin typeface="Calibri" panose="020F0502020204030204" pitchFamily="34" charset="0"/>
              </a:rPr>
              <a:t>Adjust to use </a:t>
            </a:r>
            <a:r>
              <a:rPr lang="en-GB" sz="1600" dirty="0" err="1">
                <a:solidFill>
                  <a:srgbClr val="007F8B"/>
                </a:solidFill>
                <a:latin typeface="Calibri" panose="020F0502020204030204" pitchFamily="34" charset="0"/>
              </a:rPr>
              <a:t>rustc</a:t>
            </a:r>
            <a:r>
              <a:rPr lang="en-GB" sz="1600" dirty="0">
                <a:solidFill>
                  <a:srgbClr val="007F8B"/>
                </a:solidFill>
                <a:latin typeface="Calibri" panose="020F0502020204030204" pitchFamily="34" charset="0"/>
              </a:rPr>
              <a:t> + LLVM PGO; Rust + LLVM </a:t>
            </a:r>
            <a:r>
              <a:rPr lang="en-GB" sz="1600" dirty="0" err="1">
                <a:solidFill>
                  <a:srgbClr val="007F8B"/>
                </a:solidFill>
                <a:latin typeface="Calibri" panose="020F0502020204030204" pitchFamily="34" charset="0"/>
              </a:rPr>
              <a:t>ThinLTO</a:t>
            </a:r>
            <a:r>
              <a:rPr lang="en-GB" sz="1600" dirty="0">
                <a:solidFill>
                  <a:srgbClr val="007F8B"/>
                </a:solidFill>
                <a:latin typeface="Calibri" panose="020F0502020204030204" pitchFamily="34" charset="0"/>
              </a:rPr>
              <a:t>; LLVM linking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Keep linker/librarian as MSVC link.exe / lib.exe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Additional tests to validate LLVM </a:t>
            </a:r>
            <a:r>
              <a:rPr lang="en-GB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lld</a:t>
            </a:r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-link / </a:t>
            </a:r>
            <a:r>
              <a:rPr lang="en-GB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llvm</a:t>
            </a:r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-lib.</a:t>
            </a:r>
          </a:p>
          <a:p>
            <a:r>
              <a:rPr lang="en-GB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Native C/C++ compiler remains clang-cl. Upstream x64 already configures PGO, broken LTO / LTCG. Arm has no PGO or LTCG</a:t>
            </a:r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Test approach: 4 Logical Processors (LP); 5 VMs/OS; 3 measured rounds after warmup.</a:t>
            </a:r>
          </a:p>
          <a:p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8" name="Note-424">
            <a:extLst>
              <a:ext uri="{FF2B5EF4-FFF2-40B4-BE49-F238E27FC236}">
                <a16:creationId xmlns:a16="http://schemas.microsoft.com/office/drawing/2014/main" id="{1E94796F-DA4F-8C29-538A-C9D70A3BE51A}"/>
              </a:ext>
            </a:extLst>
          </p:cNvPr>
          <p:cNvSpPr txBox="1"/>
          <p:nvPr/>
        </p:nvSpPr>
        <p:spPr>
          <a:xfrm>
            <a:off x="609600" y="53847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Note-450">
            <a:extLst>
              <a:ext uri="{FF2B5EF4-FFF2-40B4-BE49-F238E27FC236}">
                <a16:creationId xmlns:a16="http://schemas.microsoft.com/office/drawing/2014/main" id="{E87E70ED-9B69-33FC-AC56-A1DE1992977B}"/>
              </a:ext>
            </a:extLst>
          </p:cNvPr>
          <p:cNvSpPr txBox="1"/>
          <p:nvPr/>
        </p:nvSpPr>
        <p:spPr>
          <a:xfrm>
            <a:off x="609600" y="57149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CC00B670-785A-BCA8-4197-9F4538D5325B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Rust 1.94.1; offline native wall time. 95% intervals: x64 21.7-25.3%; Arm64 15.4-16.7%.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D49C7F48-8821-B814-5836-661E77877946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1 / 6</a:t>
            </a:r>
          </a:p>
        </p:txBody>
      </p:sp>
      <p:sp>
        <p:nvSpPr>
          <p:cNvPr id="12" name="IronRDP optimization results"/>
          <p:cNvSpPr txBox="1"/>
          <p:nvPr/>
        </p:nvSpPr>
        <p:spPr>
          <a:xfrm>
            <a:off x="609600" y="2298700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14324F"/>
                </a:solidFill>
                <a:latin typeface="Calibri" panose="020F0502020204030204" pitchFamily="34" charset="0"/>
              </a:rPr>
              <a:t>Applying build optimizations to Rust tool creation. Repeated </a:t>
            </a:r>
            <a:r>
              <a:rPr lang="en-US" sz="1600" b="1" dirty="0" err="1">
                <a:solidFill>
                  <a:srgbClr val="14324F"/>
                </a:solidFill>
                <a:latin typeface="Calibri" panose="020F0502020204030204" pitchFamily="34" charset="0"/>
              </a:rPr>
              <a:t>IronRDP</a:t>
            </a:r>
            <a:r>
              <a:rPr lang="en-US" sz="1600" b="1" dirty="0">
                <a:solidFill>
                  <a:srgbClr val="14324F"/>
                </a:solidFill>
                <a:latin typeface="Calibri" panose="020F0502020204030204" pitchFamily="34" charset="0"/>
              </a:rPr>
              <a:t> compilation workload (wall-clock seconds)</a:t>
            </a:r>
          </a:p>
        </p:txBody>
      </p:sp>
    </p:spTree>
    <p:extLst>
      <p:ext uri="{BB962C8B-B14F-4D97-AF65-F5344CB8AC3E}">
        <p14:creationId xmlns:p14="http://schemas.microsoft.com/office/powerpoint/2010/main" val="492689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3A03B9-0827-495B-E2AA-D1B10B53C7A3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 dirty="0">
                <a:solidFill>
                  <a:srgbClr val="14324F"/>
                </a:solidFill>
                <a:latin typeface="Calibri" panose="020F0502020204030204" pitchFamily="34" charset="0"/>
              </a:rPr>
              <a:t>Conclusion: PGO captures most of the measured benefit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D0759EAE-B043-245D-3131-F642C65C669C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dirty="0" err="1">
                <a:solidFill>
                  <a:srgbClr val="506072"/>
                </a:solidFill>
                <a:latin typeface="Calibri" panose="020F0502020204030204" pitchFamily="34" charset="0"/>
              </a:rPr>
              <a:t>IronRDP</a:t>
            </a:r>
            <a:r>
              <a:rPr lang="en-US" sz="1500" dirty="0">
                <a:solidFill>
                  <a:srgbClr val="506072"/>
                </a:solidFill>
                <a:latin typeface="Calibri" panose="020F0502020204030204" pitchFamily="34" charset="0"/>
              </a:rPr>
              <a:t> offline compilation-time reductions | PGO-only and combined PGO/</a:t>
            </a:r>
            <a:r>
              <a:rPr lang="en-US" sz="1500" dirty="0" err="1">
                <a:solidFill>
                  <a:srgbClr val="506072"/>
                </a:solidFill>
                <a:latin typeface="Calibri" panose="020F0502020204030204" pitchFamily="34" charset="0"/>
              </a:rPr>
              <a:t>ThinLTO</a:t>
            </a:r>
            <a:r>
              <a:rPr lang="en-US" sz="1500" dirty="0">
                <a:solidFill>
                  <a:srgbClr val="506072"/>
                </a:solidFill>
                <a:latin typeface="Calibri" panose="020F0502020204030204" pitchFamily="34" charset="0"/>
              </a:rPr>
              <a:t> recipes compared to baseline (no PGO)</a:t>
            </a:r>
            <a:endParaRPr lang="en-GB" sz="15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FEC87F-011D-A556-14B8-B14E337212C0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FDCCDB11-416E-2C82-CCD6-8E21036F6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8553"/>
              </p:ext>
            </p:extLst>
          </p:nvPr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4228651729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63338852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974442464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542980731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Allocation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MSVC + PGO only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LLVM + PGO + ThinLTO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Additional delta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709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x64 / 4 LP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24.6%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28.7%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5.4%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598995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 / 4 LP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24.4%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27.9%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4.5%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84449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GB300 Arm64 / 64 LP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21.5%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22.0%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0.6%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02908"/>
                  </a:ext>
                </a:extLst>
              </a:tr>
            </a:tbl>
          </a:graphicData>
        </a:graphic>
      </p:graphicFrame>
      <p:sp>
        <p:nvSpPr>
          <p:cNvPr id="6" name="Conclusion">
            <a:extLst>
              <a:ext uri="{FF2B5EF4-FFF2-40B4-BE49-F238E27FC236}">
                <a16:creationId xmlns:a16="http://schemas.microsoft.com/office/drawing/2014/main" id="{8D479461-78DD-E948-55F6-2E1221AE1A75}"/>
              </a:ext>
            </a:extLst>
          </p:cNvPr>
          <p:cNvSpPr txBox="1"/>
          <p:nvPr/>
        </p:nvSpPr>
        <p:spPr>
          <a:xfrm>
            <a:off x="609600" y="4444999"/>
            <a:ext cx="109728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 dirty="0">
                <a:solidFill>
                  <a:srgbClr val="007F8B"/>
                </a:solidFill>
                <a:latin typeface="Calibri" panose="020F0502020204030204" pitchFamily="34" charset="0"/>
              </a:rPr>
              <a:t>Matched LLVM-linked x64 control: adding both </a:t>
            </a:r>
            <a:r>
              <a:rPr lang="en-US" sz="2000" b="1" dirty="0" err="1">
                <a:solidFill>
                  <a:srgbClr val="007F8B"/>
                </a:solidFill>
                <a:latin typeface="Calibri" panose="020F0502020204030204" pitchFamily="34" charset="0"/>
              </a:rPr>
              <a:t>ThinLTO</a:t>
            </a:r>
            <a:r>
              <a:rPr lang="en-US" sz="2000" b="1" dirty="0">
                <a:solidFill>
                  <a:srgbClr val="007F8B"/>
                </a:solidFill>
                <a:latin typeface="Calibri" panose="020F0502020204030204" pitchFamily="34" charset="0"/>
              </a:rPr>
              <a:t> modes saved 7.6%</a:t>
            </a:r>
            <a:endParaRPr lang="en-GB" sz="2000" b="1" dirty="0">
              <a:solidFill>
                <a:srgbClr val="007F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Note-398">
            <a:extLst>
              <a:ext uri="{FF2B5EF4-FFF2-40B4-BE49-F238E27FC236}">
                <a16:creationId xmlns:a16="http://schemas.microsoft.com/office/drawing/2014/main" id="{8704A6A5-1E8B-797B-FACF-04F3DABDA9C6}"/>
              </a:ext>
            </a:extLst>
          </p:cNvPr>
          <p:cNvSpPr txBox="1"/>
          <p:nvPr/>
        </p:nvSpPr>
        <p:spPr>
          <a:xfrm>
            <a:off x="609600" y="5129714"/>
            <a:ext cx="10972800" cy="121514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Notes: </a:t>
            </a:r>
          </a:p>
          <a:p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MSVC + PGO keeps MSVC link/lib unchanged from upstream; </a:t>
            </a:r>
          </a:p>
          <a:p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Combined recipe switches link.exe to use </a:t>
            </a:r>
            <a:r>
              <a:rPr lang="en-GB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lld</a:t>
            </a:r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-link/</a:t>
            </a:r>
            <a:r>
              <a:rPr lang="en-GB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llvm</a:t>
            </a:r>
            <a:r>
              <a:rPr lang="en-GB" sz="1600" dirty="0">
                <a:solidFill>
                  <a:srgbClr val="506072"/>
                </a:solidFill>
                <a:latin typeface="Calibri" panose="020F0502020204030204" pitchFamily="34" charset="0"/>
              </a:rPr>
              <a:t>-lib.</a:t>
            </a:r>
          </a:p>
          <a:p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Test: 9 qualified releases, one paired round per machine. Matched LTO: identical profiles.</a:t>
            </a:r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06D85F4D-7968-D2FE-0B73-53F0FFBAD5FF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selfhost-pilot-results.json; X64-NATIVE-RESULTS.json (repeated matched-LTO comparison).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3FD4B08B-06AB-F499-461F-4E7C814D12E3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2 / 6</a:t>
            </a:r>
          </a:p>
        </p:txBody>
      </p:sp>
    </p:spTree>
    <p:extLst>
      <p:ext uri="{BB962C8B-B14F-4D97-AF65-F5344CB8AC3E}">
        <p14:creationId xmlns:p14="http://schemas.microsoft.com/office/powerpoint/2010/main" val="3690209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2D86B23-9087-39AF-E946-65EA982CF7D6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 dirty="0">
                <a:solidFill>
                  <a:srgbClr val="14324F"/>
                </a:solidFill>
                <a:latin typeface="Calibri" panose="020F0502020204030204" pitchFamily="34" charset="0"/>
              </a:rPr>
              <a:t>Impact on Rust production cost (release build times)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E8007-1C7D-63A6-F248-EFB668DF2CAB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06072"/>
                </a:solidFill>
                <a:latin typeface="Calibri" panose="020F0502020204030204" pitchFamily="34" charset="0"/>
              </a:rPr>
              <a:t>Production minutes (+% vs same-machine no PGO); setup, qualification and uploads excluded</a:t>
            </a:r>
            <a:endParaRPr lang="en-GB" sz="15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7D8FCE-0E0D-95CA-100A-9E8A558108A5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1A75C740-B202-4D9C-2802-71BEA9A15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006284"/>
              </p:ext>
            </p:extLst>
          </p:nvPr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366168491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308049457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813181375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9736019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Allocation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MSVC, no PGO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MSVC + PGO only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LLVM + PGO + ThinLTO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21588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x64 / 4 LP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134.1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548.1 (3.1x)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787.3 (4.9x)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06626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 / 4 LP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180.1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431.9 (1.4x)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656.4 (2.7x)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153526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GB300 Arm64 / 64 LP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138.5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182.6 (+31.8%)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203.3 (+46.8%)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4419"/>
                  </a:ext>
                </a:extLst>
              </a:tr>
            </a:tbl>
          </a:graphicData>
        </a:graphic>
      </p:graphicFrame>
      <p:sp>
        <p:nvSpPr>
          <p:cNvPr id="7" name="Note-398">
            <a:extLst>
              <a:ext uri="{FF2B5EF4-FFF2-40B4-BE49-F238E27FC236}">
                <a16:creationId xmlns:a16="http://schemas.microsoft.com/office/drawing/2014/main" id="{A34112C1-7A1B-8FA8-E10E-E712AFA3C204}"/>
              </a:ext>
            </a:extLst>
          </p:cNvPr>
          <p:cNvSpPr txBox="1"/>
          <p:nvPr/>
        </p:nvSpPr>
        <p:spPr>
          <a:xfrm>
            <a:off x="609600" y="5485576"/>
            <a:ext cx="10972800" cy="93494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Notes:</a:t>
            </a:r>
          </a:p>
          <a:p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Several serialized steps in the production jobs, its not all compile time!</a:t>
            </a:r>
          </a:p>
          <a:p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Full tools/docs/MSI retained; production includes training, merging and packaging.</a:t>
            </a:r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  <a:p>
            <a:endParaRPr lang="en-US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216BFC35-4870-0693-982F-DDB5F98D04E3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selfhost-pilot-results.json; gb300-release-costs.json | machine-specific costs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8F9A407F-76E2-E9D9-3546-8D3E46C1F5CA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3 / 6</a:t>
            </a:r>
          </a:p>
        </p:txBody>
      </p:sp>
      <p:sp>
        <p:nvSpPr>
          <p:cNvPr id="12" name="Note-398">
            <a:extLst>
              <a:ext uri="{FF2B5EF4-FFF2-40B4-BE49-F238E27FC236}">
                <a16:creationId xmlns:a16="http://schemas.microsoft.com/office/drawing/2014/main" id="{890D6C42-CE88-815E-B44A-94B2309BAB9E}"/>
              </a:ext>
            </a:extLst>
          </p:cNvPr>
          <p:cNvSpPr txBox="1"/>
          <p:nvPr/>
        </p:nvSpPr>
        <p:spPr>
          <a:xfrm>
            <a:off x="609600" y="4191000"/>
            <a:ext cx="10972800" cy="1155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Conclusion: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Adding </a:t>
            </a:r>
            <a:r>
              <a:rPr lang="en-US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ThinLTO</a:t>
            </a: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 gains ~5% compiler throughput, at a cost of 220+ minutes build time per release on 4 logical processor machine.</a:t>
            </a:r>
            <a:b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</a:b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‘Inline’ PGO adds 3x build time, above the 360 hard limit for public </a:t>
            </a:r>
            <a:r>
              <a:rPr lang="en-US" sz="1600" dirty="0" err="1">
                <a:solidFill>
                  <a:srgbClr val="506072"/>
                </a:solidFill>
                <a:latin typeface="Calibri" panose="020F0502020204030204" pitchFamily="34" charset="0"/>
              </a:rPr>
              <a:t>github</a:t>
            </a: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 standard runners.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Requires larger runners or more invasive build changes to separate PGO step from release build</a:t>
            </a:r>
          </a:p>
          <a:p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6757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2981799-B495-7E06-43E7-E9C43D8F63A5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3100" b="1" dirty="0">
                <a:solidFill>
                  <a:srgbClr val="14324F"/>
                </a:solidFill>
                <a:latin typeface="Calibri" panose="020F0502020204030204" pitchFamily="34" charset="0"/>
              </a:rPr>
              <a:t>Scaling the runner for Rust (mixed results – need verification)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B13F8E3-147B-9171-76F4-0E9641861F64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06072"/>
                </a:solidFill>
                <a:latin typeface="Calibri" panose="020F0502020204030204" pitchFamily="34" charset="0"/>
              </a:rPr>
              <a:t>MSVC link/lib + fresh PGO + Rust ThinLTO; native LLVM ThinLTO off</a:t>
            </a:r>
            <a:endParaRPr lang="en-GB" sz="15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C481CF-1911-4A86-2B5B-36A5582165F1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576552CF-BB1E-1487-3193-C7BBF31201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582814"/>
              </p:ext>
            </p:extLst>
          </p:nvPr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Machine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Logical Processors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Production minutes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Time saved vs 4 LP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507.8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137.1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73.0%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112.0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77.9%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Conclusion">
            <a:extLst>
              <a:ext uri="{FF2B5EF4-FFF2-40B4-BE49-F238E27FC236}">
                <a16:creationId xmlns:a16="http://schemas.microsoft.com/office/drawing/2014/main" id="{A6EECB65-981A-83CE-2253-BC1B56D33CA9}"/>
              </a:ext>
            </a:extLst>
          </p:cNvPr>
          <p:cNvSpPr txBox="1"/>
          <p:nvPr/>
        </p:nvSpPr>
        <p:spPr>
          <a:xfrm>
            <a:off x="629055" y="4451484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 dirty="0">
                <a:solidFill>
                  <a:srgbClr val="007F8B"/>
                </a:solidFill>
                <a:latin typeface="Calibri" panose="020F0502020204030204" pitchFamily="34" charset="0"/>
              </a:rPr>
              <a:t>x64 tests not conclusive – requires verification. </a:t>
            </a:r>
          </a:p>
          <a:p>
            <a:r>
              <a:rPr lang="en-US" sz="2000" b="1" dirty="0">
                <a:solidFill>
                  <a:srgbClr val="007F8B"/>
                </a:solidFill>
                <a:latin typeface="Calibri" panose="020F0502020204030204" pitchFamily="34" charset="0"/>
              </a:rPr>
              <a:t>16 LP repeat tests show +50% production time. 8 core similar scale increase. </a:t>
            </a:r>
          </a:p>
          <a:p>
            <a:endParaRPr lang="en-GB" sz="2000" b="1" dirty="0">
              <a:solidFill>
                <a:srgbClr val="007F8B"/>
              </a:solidFill>
              <a:latin typeface="Calibri" panose="020F0502020204030204" pitchFamily="34" charset="0"/>
            </a:endParaRPr>
          </a:p>
        </p:txBody>
      </p:sp>
      <p:sp>
        <p:nvSpPr>
          <p:cNvPr id="8" name="Note-424">
            <a:extLst>
              <a:ext uri="{FF2B5EF4-FFF2-40B4-BE49-F238E27FC236}">
                <a16:creationId xmlns:a16="http://schemas.microsoft.com/office/drawing/2014/main" id="{D7A41863-6753-8B91-53CF-7D3252F8B0CF}"/>
              </a:ext>
            </a:extLst>
          </p:cNvPr>
          <p:cNvSpPr txBox="1"/>
          <p:nvPr/>
        </p:nvSpPr>
        <p:spPr>
          <a:xfrm>
            <a:off x="609600" y="5499370"/>
            <a:ext cx="10972800" cy="82847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506072"/>
                </a:solidFill>
                <a:latin typeface="Calibri" panose="020F0502020204030204" pitchFamily="34" charset="0"/>
              </a:rPr>
              <a:t>Notes: </a:t>
            </a:r>
          </a:p>
          <a:p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CPU 4-&gt;16 throughput: 2.6-3.2x. </a:t>
            </a:r>
          </a:p>
          <a:p>
            <a:r>
              <a:rPr lang="en-US" sz="1600" dirty="0">
                <a:solidFill>
                  <a:srgbClr val="506072"/>
                </a:solidFill>
                <a:latin typeface="Calibri" panose="020F0502020204030204" pitchFamily="34" charset="0"/>
              </a:rPr>
              <a:t>Single-pass Arm64 ratios do not predict linear scaling.</a:t>
            </a:r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  <a:p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AACBFDAD-723B-2E34-7B82-E0ECA4476217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Six qualified scaling observations; x64 diagnostics 39110082639 / 39111363172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07D5267-C69D-AE84-CA5C-AF8A820B88C2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4 / 6</a:t>
            </a:r>
          </a:p>
        </p:txBody>
      </p:sp>
    </p:spTree>
    <p:extLst>
      <p:ext uri="{BB962C8B-B14F-4D97-AF65-F5344CB8AC3E}">
        <p14:creationId xmlns:p14="http://schemas.microsoft.com/office/powerpoint/2010/main" val="2913054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9269D70-788E-602B-37CD-E93016D5A5BF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 dirty="0">
                <a:solidFill>
                  <a:srgbClr val="14324F"/>
                </a:solidFill>
                <a:latin typeface="Calibri" panose="020F0502020204030204" pitchFamily="34" charset="0"/>
              </a:rPr>
              <a:t>Proposal: implement PGO first; consider </a:t>
            </a:r>
            <a:r>
              <a:rPr lang="en-US" sz="3100" b="1" dirty="0" err="1">
                <a:solidFill>
                  <a:srgbClr val="14324F"/>
                </a:solidFill>
                <a:latin typeface="Calibri" panose="020F0502020204030204" pitchFamily="34" charset="0"/>
              </a:rPr>
              <a:t>llvm</a:t>
            </a:r>
            <a:r>
              <a:rPr lang="en-US" sz="3100" b="1" dirty="0">
                <a:solidFill>
                  <a:srgbClr val="14324F"/>
                </a:solidFill>
                <a:latin typeface="Calibri" panose="020F0502020204030204" pitchFamily="34" charset="0"/>
              </a:rPr>
              <a:t> later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0E80BC-7F79-8413-B483-F42981415F79}"/>
              </a:ext>
            </a:extLst>
          </p:cNvPr>
          <p:cNvSpPr/>
          <p:nvPr/>
        </p:nvSpPr>
        <p:spPr>
          <a:xfrm>
            <a:off x="609600" y="1096254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Priorities">
            <a:extLst>
              <a:ext uri="{FF2B5EF4-FFF2-40B4-BE49-F238E27FC236}">
                <a16:creationId xmlns:a16="http://schemas.microsoft.com/office/drawing/2014/main" id="{738DB233-2DA8-E890-5A59-4528F1700761}"/>
              </a:ext>
            </a:extLst>
          </p:cNvPr>
          <p:cNvSpPr txBox="1"/>
          <p:nvPr/>
        </p:nvSpPr>
        <p:spPr>
          <a:xfrm>
            <a:off x="609600" y="1296749"/>
            <a:ext cx="10972800" cy="117110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500"/>
              </a:spcAft>
            </a:pPr>
            <a:r>
              <a:rPr lang="en-GB" sz="2100" dirty="0">
                <a:solidFill>
                  <a:srgbClr val="14324F"/>
                </a:solidFill>
                <a:latin typeface="Calibri" panose="020F0502020204030204" pitchFamily="34" charset="0"/>
              </a:rPr>
              <a:t>1  Prioritize PGO; Microsoft linking retains most observed benefit.</a:t>
            </a:r>
          </a:p>
          <a:p>
            <a:pPr>
              <a:spcAft>
                <a:spcPts val="1500"/>
              </a:spcAft>
            </a:pPr>
            <a:r>
              <a:rPr lang="en-GB" sz="2100" dirty="0">
                <a:solidFill>
                  <a:srgbClr val="14324F"/>
                </a:solidFill>
                <a:latin typeface="Calibri" panose="020F0502020204030204" pitchFamily="34" charset="0"/>
              </a:rPr>
              <a:t>2  Isolate linker / Rust LTO / LLVM LTO and repeat downstream qualification.</a:t>
            </a:r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0AA81700-1223-2717-9C99-D48DCB4261EF}"/>
              </a:ext>
            </a:extLst>
          </p:cNvPr>
          <p:cNvSpPr txBox="1"/>
          <p:nvPr/>
        </p:nvSpPr>
        <p:spPr>
          <a:xfrm>
            <a:off x="609600" y="2620756"/>
            <a:ext cx="10972800" cy="8065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 dirty="0">
                <a:solidFill>
                  <a:srgbClr val="007F8B"/>
                </a:solidFill>
                <a:latin typeface="Calibri" panose="020F0502020204030204" pitchFamily="34" charset="0"/>
              </a:rPr>
              <a:t>Upstream x64 PGO unproven</a:t>
            </a:r>
          </a:p>
          <a:p>
            <a:r>
              <a:rPr lang="en-US" sz="2000" b="1" dirty="0">
                <a:solidFill>
                  <a:srgbClr val="007F8B"/>
                </a:solidFill>
                <a:latin typeface="Calibri" panose="020F0502020204030204" pitchFamily="34" charset="0"/>
              </a:rPr>
              <a:t>X64 build machine scaling needs validation</a:t>
            </a:r>
            <a:endParaRPr lang="en-GB" sz="2000" b="1" dirty="0">
              <a:solidFill>
                <a:srgbClr val="007F8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F378CBC7-9ED3-A348-8BA2-C7A6609D8883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Combined report: methods, detailed tables, qualification caveats and source links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69C7B1B7-9211-A806-55BB-C6F259CC6888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6 / 6</a:t>
            </a:r>
          </a:p>
        </p:txBody>
      </p:sp>
    </p:spTree>
    <p:extLst>
      <p:ext uri="{BB962C8B-B14F-4D97-AF65-F5344CB8AC3E}">
        <p14:creationId xmlns:p14="http://schemas.microsoft.com/office/powerpoint/2010/main" val="967713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A6F560-6A05-9D0A-776D-CF76B967477D}"/>
              </a:ext>
            </a:extLst>
          </p:cNvPr>
          <p:cNvSpPr txBox="1"/>
          <p:nvPr/>
        </p:nvSpPr>
        <p:spPr>
          <a:xfrm>
            <a:off x="3878093" y="2782669"/>
            <a:ext cx="4307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Appendix: </a:t>
            </a:r>
          </a:p>
          <a:p>
            <a:r>
              <a:rPr lang="en-US" dirty="0"/>
              <a:t>Where is the cost for the X64 Build of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1270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F2394D-0275-D393-D5D4-46887FD6CCCC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>
                <a:solidFill>
                  <a:srgbClr val="14324F"/>
                </a:solidFill>
                <a:latin typeface="Calibri" panose="020F0502020204030204" pitchFamily="34" charset="0"/>
              </a:rPr>
              <a:t>PGO gathering is the x64 hotspot</a:t>
            </a:r>
            <a:endParaRPr lang="en-GB" sz="3100" b="1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BBE6C10-D011-C862-993D-F39BE651E213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dirty="0">
                <a:solidFill>
                  <a:srgbClr val="506072"/>
                </a:solidFill>
                <a:latin typeface="Calibri" panose="020F0502020204030204" pitchFamily="34" charset="0"/>
              </a:rPr>
              <a:t>Completed phases, minutes | public 4-LP AMD reference vs self-hosted x64 /4</a:t>
            </a:r>
            <a:endParaRPr lang="en-GB" sz="15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9A48DA-471A-B656-DDB9-252B03DF5E3D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A5179E00-D012-225D-30BA-EFA186D60A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079572"/>
              </p:ext>
            </p:extLst>
          </p:nvPr>
        </p:nvGraphicFramePr>
        <p:xfrm>
          <a:off x="609600" y="1752600"/>
          <a:ext cx="109728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2075786753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57585637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362087827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Completed phase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Public /4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Self-hosted /4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886697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Build instrumented rustc + LLVM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117.3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78.7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84762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Gather Rust/tool profiles + merge</a:t>
                      </a:r>
                      <a:endParaRPr lang="en-GB" sz="1800" b="0">
                        <a:solidFill>
                          <a:srgbClr val="14324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35.7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210.0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91460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Build PGO-optimized rustc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54.3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39.4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4177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Build instrumented LLVM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69.0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76.9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945857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Gather LLVM profiles + merge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17.0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146.6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4622727"/>
                  </a:ext>
                </a:extLst>
              </a:tr>
            </a:tbl>
          </a:graphicData>
        </a:graphic>
      </p:graphicFrame>
      <p:sp>
        <p:nvSpPr>
          <p:cNvPr id="6" name="Conclusion">
            <a:extLst>
              <a:ext uri="{FF2B5EF4-FFF2-40B4-BE49-F238E27FC236}">
                <a16:creationId xmlns:a16="http://schemas.microsoft.com/office/drawing/2014/main" id="{852245F7-0F92-AC86-328A-15B5DCF4C648}"/>
              </a:ext>
            </a:extLst>
          </p:cNvPr>
          <p:cNvSpPr txBox="1"/>
          <p:nvPr/>
        </p:nvSpPr>
        <p:spPr>
          <a:xfrm>
            <a:off x="609600" y="5257799"/>
            <a:ext cx="109728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2000" b="1">
                <a:solidFill>
                  <a:srgbClr val="007F8B"/>
                </a:solidFill>
                <a:latin typeface="Calibri" panose="020F0502020204030204" pitchFamily="34" charset="0"/>
              </a:rPr>
              <a:t>All profile gathering: 52.7 vs 356.6 min (6.8x)</a:t>
            </a:r>
          </a:p>
        </p:txBody>
      </p:sp>
      <p:sp>
        <p:nvSpPr>
          <p:cNvPr id="7" name="Note-462">
            <a:extLst>
              <a:ext uri="{FF2B5EF4-FFF2-40B4-BE49-F238E27FC236}">
                <a16:creationId xmlns:a16="http://schemas.microsoft.com/office/drawing/2014/main" id="{7DE430F3-3A9C-0B99-86C6-1CD169ABA92F}"/>
              </a:ext>
            </a:extLst>
          </p:cNvPr>
          <p:cNvSpPr txBox="1"/>
          <p:nvPr/>
        </p:nvSpPr>
        <p:spPr>
          <a:xfrm>
            <a:off x="609600" y="58673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06072"/>
                </a:solidFill>
                <a:latin typeface="Calibri" panose="020F0502020204030204" pitchFamily="34" charset="0"/>
              </a:rPr>
              <a:t>Same pinned recipe / scenario coverage; hardware and profile bytes differ.</a:t>
            </a:r>
            <a:endParaRPr lang="en-GB" sz="16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3CBCDBD9-0497-1D40-4D16-6B37A142B3D4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Run 39110448524; full public release unfinished. Production includes dependency downloads.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9630DD26-5362-2608-A28F-1C19F6302D1B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GB" sz="1000">
                <a:solidFill>
                  <a:srgbClr val="506072"/>
                </a:solidFill>
                <a:latin typeface="Calibri" panose="020F0502020204030204" pitchFamily="34" charset="0"/>
              </a:rPr>
              <a:t>5 / 6</a:t>
            </a:r>
          </a:p>
        </p:txBody>
      </p:sp>
    </p:spTree>
    <p:extLst>
      <p:ext uri="{BB962C8B-B14F-4D97-AF65-F5344CB8AC3E}">
        <p14:creationId xmlns:p14="http://schemas.microsoft.com/office/powerpoint/2010/main" val="282610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: overview and compiler evide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381000"/>
            <a:ext cx="10972800" cy="5842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>
                <a:solidFill>
                  <a:srgbClr val="14324F"/>
                </a:solidFill>
                <a:latin typeface="Calibri"/>
              </a:rPr>
              <a:t>Reports: overview and compiler evidence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09600" y="1016000"/>
            <a:ext cx="10972800" cy="482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b="0">
                <a:solidFill>
                  <a:srgbClr val="506072"/>
                </a:solidFill>
                <a:latin typeface="Calibri"/>
              </a:rPr>
              <a:t>marcpems/IronRDP-ci-benchmark | experiment/matched-release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b="0">
                <a:solidFill>
                  <a:srgbClr val="506072"/>
                </a:solidFill>
                <a:latin typeface="Calibri"/>
              </a:rPr>
              <a:t>Locations are relative to ci-benchmark/. Click a filename to open the report.</a:t>
            </a:r>
          </a:p>
        </p:txBody>
      </p:sp>
      <p:sp>
        <p:nvSpPr>
          <p:cNvPr id="4" name="Separator"/>
          <p:cNvSpPr txBox="1"/>
          <p:nvPr/>
        </p:nvSpPr>
        <p:spPr>
          <a:xfrm>
            <a:off x="609600" y="1600200"/>
            <a:ext cx="10972800" cy="38100"/>
          </a:xfrm>
          <a:prstGeom prst="rect">
            <a:avLst/>
          </a:prstGeom>
          <a:solidFill>
            <a:srgbClr val="007F8B"/>
          </a:solidFill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graphicFrame>
        <p:nvGraphicFramePr>
          <p:cNvPr id="5" name="Report index"/>
          <p:cNvGraphicFramePr/>
          <p:nvPr/>
        </p:nvGraphicFramePr>
        <p:xfrm>
          <a:off x="609600" y="1727200"/>
          <a:ext cx="10972800" cy="469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Report / evidence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Start here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2"/>
                        </a:rPr>
                        <a:t>INVESTIGATION-SUMMARY.md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Problem, stages, all results,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limits and next priorities.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Compiler findings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3"/>
                        </a:rPr>
                        <a:t>COMBINED-REPORT.md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Compiler attribution, PGO/LTO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evidence and training caveats.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Original OS comparison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4"/>
                        </a:rPr>
                        <a:t>REPORT.md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5"/>
                        </a:rPr>
                        <a:t>NATIVE-BREAKDOWN.md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Offline Windows/Linux results;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five-command timing breakdown.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Compiler isolation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6"/>
                        </a:rPr>
                        <a:t>COMPILER-RESULTS.md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rustc CPU attribution; native/WASM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and one/four-processor controls.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Native workload A/B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7"/>
                        </a:rPr>
                        <a:t>X64-NATIVE-RESULTS.md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8"/>
                        </a:rPr>
                        <a:t>NATIVE-AB-RESULTS.md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Shipping versus optimized compilers;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full native workload and intervals.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Compiler controls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9"/>
                        </a:rPr>
                        <a:t>X64-COMPILER-RESULTS.md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0"/>
                        </a:rPr>
                        <a:t>ARM64-AB-RESULTS.md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Direct compiler controls and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matched optimization effects.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Original Word report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1"/>
                        </a:rPr>
                        <a:t>Windows-Rust-Performance-Summary.docx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Windows Rust compiler performance;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2 Oct report, updated 7 Oct.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Combined Word report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2"/>
                        </a:rPr>
                        <a:t>matched-release/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2"/>
                        </a:rPr>
                        <a:t>Rust-Optimization-Combined-Report-Revised.docx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7-page readable consolidation;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published Word report.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609600" y="6489700"/>
            <a:ext cx="9499600" cy="3175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950" b="0">
                <a:solidFill>
                  <a:srgbClr val="506072"/>
                </a:solidFill>
                <a:latin typeface="Calibri"/>
              </a:rPr>
              <a:t>Evidence links pinned to 0225ddaf; combined Word report uses the reporting branch.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950" b="0">
                <a:solidFill>
                  <a:srgbClr val="506072"/>
                </a:solidFill>
                <a:latin typeface="Calibri"/>
              </a:rPr>
              <a:t>Published report links open GitHub; no local files are required.</a:t>
            </a:r>
          </a:p>
        </p:txBody>
      </p:sp>
      <p:sp>
        <p:nvSpPr>
          <p:cNvPr id="7" name="Index number"/>
          <p:cNvSpPr txBox="1"/>
          <p:nvPr/>
        </p:nvSpPr>
        <p:spPr>
          <a:xfrm>
            <a:off x="10464800" y="6540500"/>
            <a:ext cx="1219200" cy="228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>
                <a:solidFill>
                  <a:srgbClr val="506072"/>
                </a:solidFill>
                <a:latin typeface="Calibri"/>
              </a:rPr>
              <a:t>Index 1 /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: release production and supporting evide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381000"/>
            <a:ext cx="10972800" cy="5842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>
                <a:solidFill>
                  <a:srgbClr val="14324F"/>
                </a:solidFill>
                <a:latin typeface="Calibri"/>
              </a:rPr>
              <a:t>Reports: release production and supporting evidence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09600" y="1016000"/>
            <a:ext cx="10972800" cy="482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b="0">
                <a:solidFill>
                  <a:srgbClr val="506072"/>
                </a:solidFill>
                <a:latin typeface="Calibri"/>
              </a:rPr>
              <a:t>marcpems/IronRDP-ci-benchmark | experiment/matched-release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b="0">
                <a:solidFill>
                  <a:srgbClr val="506072"/>
                </a:solidFill>
                <a:latin typeface="Calibri"/>
              </a:rPr>
              <a:t>Locations are relative to ci-benchmark/. Click a filename to open the report.</a:t>
            </a:r>
          </a:p>
        </p:txBody>
      </p:sp>
      <p:sp>
        <p:nvSpPr>
          <p:cNvPr id="4" name="Separator"/>
          <p:cNvSpPr txBox="1"/>
          <p:nvPr/>
        </p:nvSpPr>
        <p:spPr>
          <a:xfrm>
            <a:off x="609600" y="1600200"/>
            <a:ext cx="10972800" cy="38100"/>
          </a:xfrm>
          <a:prstGeom prst="rect">
            <a:avLst/>
          </a:prstGeom>
          <a:solidFill>
            <a:srgbClr val="007F8B"/>
          </a:solidFill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graphicFrame>
        <p:nvGraphicFramePr>
          <p:cNvPr id="5" name="Report index"/>
          <p:cNvGraphicFramePr/>
          <p:nvPr/>
        </p:nvGraphicFramePr>
        <p:xfrm>
          <a:off x="609600" y="1727200"/>
          <a:ext cx="10972800" cy="469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Report / evidence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Full release / scaling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2"/>
                        </a:rPr>
                        <a:t>matched-release/README.md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Qualified releases, production costs,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scaling, diagnostics and failures.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Exact release data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3"/>
                        </a:rPr>
                        <a:t>matched-release/selfhost-pilot-results.json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4"/>
                        </a:rPr>
                        <a:t>matched-release/gb300-release-costs.json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Nine pilot measurements and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exclusive GB300 production costs.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Upstream scheduling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5"/>
                        </a:rPr>
                        <a:t>upstream-release-throughput/README.md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Controlled scheduling comparisons;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no repeatable gain established.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Local throughput probes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6"/>
                        </a:rPr>
                        <a:t>release-throughput/README.md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LLVM scaling subset and fast XZ;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component, not full-release gains.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Microsoft-tool path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7"/>
                        </a:rPr>
                        <a:t>msvc-linker/README.md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8"/>
                        </a:rPr>
                        <a:t>msvc-linker/RUNTIME-DIAGNOSTICS.md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MSVC linking compatibility and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profiling-runtime repairs.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Original CI audit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9"/>
                        </a:rPr>
                        <a:t>build-time/README.md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313-job audit, release critical path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and modeled production options.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Design / reuse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0"/>
                        </a:rPr>
                        <a:t>WINDOWS-X64-OPTIMIZATION.md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1"/>
                        </a:rPr>
                        <a:t>OPTIMIZED-TOOLCHAIN.md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Matched x64 design and opt-in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compiler-package installation.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14324F"/>
                          </a:solidFill>
                          <a:latin typeface="Calibri"/>
                        </a:rPr>
                        <a:t>Maintainer Word brief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2"/>
                        </a:rPr>
                        <a:t>matched-release/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0" u="sng">
                          <a:solidFill>
                            <a:srgbClr val="007F8B"/>
                          </a:solidFill>
                          <a:latin typeface="Calibri"/>
                          <a:hlinkClick r:id="rId12"/>
                        </a:rPr>
                        <a:t>Rust-Compiler-Optimization-Maintainer-Brief.docx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Maintainer recommendations, pilot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0">
                          <a:solidFill>
                            <a:srgbClr val="14324F"/>
                          </a:solidFill>
                          <a:latin typeface="Calibri"/>
                        </a:rPr>
                        <a:t>results and modeled CI budgets.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609600" y="6489700"/>
            <a:ext cx="9499600" cy="3175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950" b="0">
                <a:solidFill>
                  <a:srgbClr val="506072"/>
                </a:solidFill>
                <a:latin typeface="Calibri"/>
              </a:rPr>
              <a:t>CI audit uses historical commit 96e8f5d; other GitHub links use 0225ddaf.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950" b="0">
                <a:solidFill>
                  <a:srgbClr val="506072"/>
                </a:solidFill>
                <a:latin typeface="Calibri"/>
              </a:rPr>
              <a:t>JSON files provide exact measurements and provenance behind the report tables.</a:t>
            </a:r>
          </a:p>
        </p:txBody>
      </p:sp>
      <p:sp>
        <p:nvSpPr>
          <p:cNvPr id="7" name="Index number"/>
          <p:cNvSpPr txBox="1"/>
          <p:nvPr/>
        </p:nvSpPr>
        <p:spPr>
          <a:xfrm>
            <a:off x="10464800" y="6540500"/>
            <a:ext cx="1219200" cy="228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000" b="0">
                <a:solidFill>
                  <a:srgbClr val="506072"/>
                </a:solidFill>
                <a:latin typeface="Calibri"/>
              </a:rPr>
              <a:t>Index 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1250</Words>
  <Application>Microsoft Office PowerPoint</Application>
  <PresentationFormat>Widescreen</PresentationFormat>
  <Paragraphs>227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Perryman</dc:creator>
  <cp:lastModifiedBy>Marcus Perryman</cp:lastModifiedBy>
  <cp:revision>7</cp:revision>
  <dcterms:created xsi:type="dcterms:W3CDTF">2026-10-19T13:33:19Z</dcterms:created>
  <dcterms:modified xsi:type="dcterms:W3CDTF">2026-10-20T13:38:56Z</dcterms:modified>
</cp:coreProperties>
</file>