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19"/>
    <p:sldId id="268" r:id="rId18"/>
    <p:sldId id="258" r:id="rId4"/>
    <p:sldId id="259" r:id="rId5"/>
    <p:sldId id="265" r:id="rId15"/>
    <p:sldId id="266" r:id="rId16"/>
    <p:sldId id="267" r:id="rId17"/>
    <p:sldId id="261" r:id="rId6"/>
    <p:sldId id="262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6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BB1CA-BF3C-B098-ACD3-87046EF39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22B74-5DA6-30B5-9D03-FA0398CC1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39FFB-44CD-19A7-380D-30E30E704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521B-0D3C-4A2F-9FB5-2D4DB0F83389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E50F3-575F-5430-F3EE-3E476FCD3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1E255-B232-B0C1-8327-936D6409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41FAC-3598-4DD4-AB80-D8182E1C6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06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F0CA2-0B18-B687-32CD-FC042A31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B46C4-BA3A-FA07-DBEC-20EAA232A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2023E-03AB-778F-514A-3238E9258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521B-0D3C-4A2F-9FB5-2D4DB0F83389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978B7-673F-6C34-EAE4-817E6836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812CC-1D41-8D42-3499-A4E1827D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41FAC-3598-4DD4-AB80-D8182E1C6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3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2297C-7177-405B-748E-CB4F92734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B357C-86ED-4ADB-2D29-6C91BBBD4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92C63-0E9B-B737-70D8-2555B26DB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521B-0D3C-4A2F-9FB5-2D4DB0F83389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405F9-A629-81E0-6981-64CCBF76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4A114-8084-899F-291D-E917637F0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41FAC-3598-4DD4-AB80-D8182E1C6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963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4B63-E432-C61D-522B-2ED9DA6A1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2E4C8-E34A-4FA5-CC54-1A2D3BCD7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8EBA4-D60A-CA7C-19A1-92A236B3D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4C067-C006-816B-8917-2ADC3C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521B-0D3C-4A2F-9FB5-2D4DB0F83389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84AE6-6A49-668B-4B2E-6F6129A81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66F74-F12A-3BE3-1BF9-D88E42CD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41FAC-3598-4DD4-AB80-D8182E1C6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59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3E25-DEF4-2078-7018-0B3E1410A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2C5B0-C753-5BF0-77E0-77364FAAA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646DF-B51F-2785-3991-183E7BBC2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F5034-F108-B41D-74B0-9C0EC7CA6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74036C-B004-59EB-58AC-D51F82A61F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B627A6-CA12-6F28-1D14-5D3920262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521B-0D3C-4A2F-9FB5-2D4DB0F83389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B1BD6-9EEF-827B-8C31-ABFBDB9B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5F36A9-FE15-5560-E6C3-3EFF7461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41FAC-3598-4DD4-AB80-D8182E1C6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974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DA84-E4B8-0789-4C79-754DCB540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D5A62-3E59-3DCC-C936-19987D6E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521B-0D3C-4A2F-9FB5-2D4DB0F83389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876D8-DB9B-789B-A9E3-B9B7C159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4353D-D9F4-8A58-595F-2C24968F2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41FAC-3598-4DD4-AB80-D8182E1C6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96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D87CE-A30B-3A8B-4F0D-F9A4DC36C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521B-0D3C-4A2F-9FB5-2D4DB0F83389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BB630-9C00-7582-3C2B-E6B7D849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ACA51-79AC-692E-F6BB-694CD425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41FAC-3598-4DD4-AB80-D8182E1C6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743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6A95-8DB1-B75D-FD4C-66C549E6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66B0C-1682-6EDE-2A28-F2A4547B8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D87E6-4F1A-CB15-91C4-C83BF968C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76973-FDD4-FD2A-2A8C-C91246C74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521B-0D3C-4A2F-9FB5-2D4DB0F83389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0D2F6-7F79-98C2-9670-FEE850CC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81840-8A03-152D-AB44-A9A77AAE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41FAC-3598-4DD4-AB80-D8182E1C6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684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B4A2A-4156-D99F-548D-9A6F2B881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08882-7AB3-0301-26AE-F2263CB877E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3EA9E-BA8A-430E-72D7-F3A2ECAD6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8098B-C04F-B153-8A8F-2C0BA974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521B-0D3C-4A2F-9FB5-2D4DB0F83389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A4CD8-61BE-2B72-CEDE-76B9AC0B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DAAF6-53CC-B9FA-E695-FF3D344B2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41FAC-3598-4DD4-AB80-D8182E1C6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510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602B0-E6F3-EC87-7804-CC7E464A1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A33FA-E2AD-09E4-AD41-019A8A09E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4F45D-B970-4625-D53D-32E07022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521B-0D3C-4A2F-9FB5-2D4DB0F83389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87FC5-50F5-AE1B-FBBC-974DC635B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1C351-AA91-DA39-AF1A-BF3FC1FF3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41FAC-3598-4DD4-AB80-D8182E1C6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537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1A1B54-A9F5-AB96-63E3-42A85617D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CCBAD-4042-425A-0319-BABA8143E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08D2B-B45E-C69C-1694-A30A49808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521B-0D3C-4A2F-9FB5-2D4DB0F83389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5DF07-3CCE-BD7B-7A39-1DF4F6424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2BB95-D2DC-7BED-759E-F22189C0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41FAC-3598-4DD4-AB80-D8182E1C6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6846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474FB-9BB7-59A3-DF4F-FF4B91BE4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2BE65-75B6-D107-B53C-C8198E247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CF298-DFC5-744C-B60E-55F00BC52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4C521B-0D3C-4A2F-9FB5-2D4DB0F83389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8CB47-1FE6-5A52-4449-9B343EB5A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8EA77-4587-810B-9750-B156E2F8D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41FAC-3598-4DD4-AB80-D8182E1C6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07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arcpems/IronRDP-ci-benchmark/blob/experiment/x64-pgo-1991/ci-benchmark/COMBINED-REPORT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arcpems/IronRDP-ci-benchmark/blob/experiment/x64-pgo-1991/ci-benchmark/matched-release/README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arcpems/IronRDP-ci-benchmark/blob/experiment/x64-pgo-1991/ci-benchmark/X64-PGO-COMPARISON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arcpems/IronRDP-ci-benchmark/blob/experiment/x64-pgo-1991/ci-benchmark/matched-release/README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arcpems/IronRDP-ci-benchmark/blob/experiment/x64-pgo-1991/ci-benchmark/matched-release/README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arcpems/IronRDP-ci-benchmark/actions/runs/41054163612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arcpems/IronRDP-ci-benchmark/actions/runs/40409913485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riage.rust-lang.org/gha-logs/rust-lang/rust/121229977135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arcpems/IronRDP-ci-benchmark/blob/experiment/x64-pgo-1991/ci-benchmark/matched-release/README.md" TargetMode="External"/><Relationship Id="rId3" Type="http://schemas.openxmlformats.org/officeDocument/2006/relationships/hyperlink" Target="https://github.com/rust-lang/rust/pull/164707" TargetMode="External"/><Relationship Id="rId4" Type="http://schemas.openxmlformats.org/officeDocument/2006/relationships/hyperlink" Target="https://github.com/rust-lang/rust/pull/165138" TargetMode="External"/><Relationship Id="rId5" Type="http://schemas.openxmlformats.org/officeDocument/2006/relationships/hyperlink" Target="https://github.com/mozilla/sccache/pull/2962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arcpems/IronRDP-ci-benchmark/actions/runs/40170434889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arcpems/IronRDP-ci-benchmark/blob/experiment/x64-pgo-1991/ci-benchmark/INVESTIGATION-SUMMARY.md" TargetMode="External"/><Relationship Id="rId3" Type="http://schemas.openxmlformats.org/officeDocument/2006/relationships/hyperlink" Target="https://github.com/marcpems/IronRDP-ci-benchmark/blob/experiment/x64-pgo-1991/ci-benchmark/COMBINED-REPORT.md" TargetMode="External"/><Relationship Id="rId4" Type="http://schemas.openxmlformats.org/officeDocument/2006/relationships/hyperlink" Target="https://github.com/marcpems/IronRDP-ci-benchmark/blob/experiment/x64-pgo-1991/ci-benchmark/REPORT.md" TargetMode="External"/><Relationship Id="rId5" Type="http://schemas.openxmlformats.org/officeDocument/2006/relationships/hyperlink" Target="https://github.com/marcpems/IronRDP-ci-benchmark/blob/experiment/x64-pgo-1991/ci-benchmark/NATIVE-BREAKDOWN.md" TargetMode="External"/><Relationship Id="rId6" Type="http://schemas.openxmlformats.org/officeDocument/2006/relationships/hyperlink" Target="https://github.com/marcpems/IronRDP-ci-benchmark/blob/experiment/x64-pgo-1991/ci-benchmark/COMPILER-RESULTS.md" TargetMode="External"/><Relationship Id="rId7" Type="http://schemas.openxmlformats.org/officeDocument/2006/relationships/hyperlink" Target="https://github.com/marcpems/IronRDP-ci-benchmark/blob/experiment/x64-pgo-1991/ci-benchmark/X64-NATIVE-RESULTS.md" TargetMode="External"/><Relationship Id="rId8" Type="http://schemas.openxmlformats.org/officeDocument/2006/relationships/hyperlink" Target="https://github.com/marcpems/IronRDP-ci-benchmark/blob/experiment/x64-pgo-1991/ci-benchmark/NATIVE-AB-RESULTS.md" TargetMode="External"/><Relationship Id="rId9" Type="http://schemas.openxmlformats.org/officeDocument/2006/relationships/hyperlink" Target="https://github.com/marcpems/IronRDP-ci-benchmark/blob/experiment/x64-pgo-1991/ci-benchmark/X64-COMPILER-RESULTS.md" TargetMode="External"/><Relationship Id="rId10" Type="http://schemas.openxmlformats.org/officeDocument/2006/relationships/hyperlink" Target="https://github.com/marcpems/IronRDP-ci-benchmark/blob/experiment/x64-pgo-1991/ci-benchmark/ARM64-AB-RESULTS.md" TargetMode="External"/><Relationship Id="rId11" Type="http://schemas.openxmlformats.org/officeDocument/2006/relationships/hyperlink" Target="https://github.com/marcpems/IronRDP-ci-benchmark/blob/experiment/x64-pgo-1991/ci-benchmark/Windows-Rust-Performance-Summary.docx" TargetMode="External"/><Relationship Id="rId12" Type="http://schemas.openxmlformats.org/officeDocument/2006/relationships/hyperlink" Target="https://github.com/marcpems/IronRDP-ci-benchmark/blob/experiment/x64-pgo-1991/ci-benchmark/matched-release/Rust-Optimization-Combined-Report-30Oct2026.docx" TargetMode="External"/><Relationship Id="rId13" Type="http://schemas.openxmlformats.org/officeDocument/2006/relationships/hyperlink" Target="https://github.com/marcpems/IronRDP-ci-benchmark/blob/experiment/x64-pgo-1991/ci-benchmark/INVESTIGATION-SUMMARY.md" TargetMode="External"/><Relationship Id="rId14" Type="http://schemas.openxmlformats.org/officeDocument/2006/relationships/hyperlink" Target="https://github.com/marcpems/IronRDP-ci-benchmark/blob/experiment/x64-pgo-1991/ci-benchmark/matched-release/Rust-Optimization-Combined-Report-30Oct2026.docx" TargetMode="External"/><Relationship Id="rId15" Type="http://schemas.openxmlformats.org/officeDocument/2006/relationships/hyperlink" Target="https://github.com/marcpems/IronRDP-ci-benchmark/blob/experiment/x64-pgo-1991/ci-benchmark/X64-PROFILE-ONLY.md" TargetMode="External"/><Relationship Id="rId16" Type="http://schemas.openxmlformats.org/officeDocument/2006/relationships/hyperlink" Target="https://github.com/marcpems/IronRDP-ci-benchmark/blob/experiment/x64-pgo-1991/ci-benchmark/X64-PGO-1991.md" TargetMode="External"/><Relationship Id="rId17" Type="http://schemas.openxmlformats.org/officeDocument/2006/relationships/hyperlink" Target="https://github.com/marcpems/IronRDP-ci-benchmark/blob/experiment/x64-pgo-1991/ci-benchmark/X64-PGO-COMPARISON.md" TargetMode="External"/><Relationship Id="rId18" Type="http://schemas.openxmlformats.org/officeDocument/2006/relationships/hyperlink" Target="https://github.com/marcpems/IronRDP-ci-benchmark/blob/experiment/x64-pgo-1991/ci-benchmark/REPORT.md" TargetMode="External"/><Relationship Id="rId19" Type="http://schemas.openxmlformats.org/officeDocument/2006/relationships/hyperlink" Target="https://github.com/marcpems/IronRDP-ci-benchmark/blob/experiment/x64-pgo-1991/ci-benchmark/NATIVE-BREAKDOWN.md" TargetMode="External"/><Relationship Id="rId20" Type="http://schemas.openxmlformats.org/officeDocument/2006/relationships/hyperlink" Target="https://github.com/marcpems/IronRDP-ci-benchmark/blob/experiment/x64-pgo-1991/ci-benchmark/COMBINED-REPORT.md" TargetMode="External"/><Relationship Id="rId21" Type="http://schemas.openxmlformats.org/officeDocument/2006/relationships/hyperlink" Target="https://github.com/marcpems/IronRDP-ci-benchmark/blob/experiment/x64-pgo-1991/ci-benchmark/later-pgo-evidence.zip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arcpems/IronRDP-ci-benchmark/blob/experiment/x64-pgo-1991/ci-benchmark/matched-release/README.md" TargetMode="External"/><Relationship Id="rId3" Type="http://schemas.openxmlformats.org/officeDocument/2006/relationships/hyperlink" Target="https://github.com/marcpems/IronRDP-ci-benchmark/blob/experiment/x64-pgo-1991/ci-benchmark/matched-release/selfhost-pilot-results.json" TargetMode="External"/><Relationship Id="rId4" Type="http://schemas.openxmlformats.org/officeDocument/2006/relationships/hyperlink" Target="https://github.com/marcpems/IronRDP-ci-benchmark/blob/experiment/x64-pgo-1991/ci-benchmark/matched-release/gb300-release-costs.json" TargetMode="External"/><Relationship Id="rId5" Type="http://schemas.openxmlformats.org/officeDocument/2006/relationships/hyperlink" Target="https://github.com/marcpems/IronRDP-ci-benchmark/blob/experiment/x64-pgo-1991/ci-benchmark/upstream-release-throughput/README.md" TargetMode="External"/><Relationship Id="rId6" Type="http://schemas.openxmlformats.org/officeDocument/2006/relationships/hyperlink" Target="https://github.com/marcpems/IronRDP-ci-benchmark/blob/experiment/x64-pgo-1991/ci-benchmark/release-throughput/README.md" TargetMode="External"/><Relationship Id="rId7" Type="http://schemas.openxmlformats.org/officeDocument/2006/relationships/hyperlink" Target="https://github.com/marcpems/IronRDP-ci-benchmark/blob/experiment/x64-pgo-1991/ci-benchmark/msvc-linker/README.md" TargetMode="External"/><Relationship Id="rId8" Type="http://schemas.openxmlformats.org/officeDocument/2006/relationships/hyperlink" Target="https://github.com/marcpems/IronRDP-ci-benchmark/blob/experiment/x64-pgo-1991/ci-benchmark/msvc-linker/RUNTIME-DIAGNOSTICS.md" TargetMode="External"/><Relationship Id="rId9" Type="http://schemas.openxmlformats.org/officeDocument/2006/relationships/hyperlink" Target="https://github.com/marcpems/IronRDP-ci-benchmark/blob/96e8f5d65ffd6d50955c9480b3ae8bdcfe3251ff/ci-benchmark/build-time/README.md" TargetMode="External"/><Relationship Id="rId10" Type="http://schemas.openxmlformats.org/officeDocument/2006/relationships/hyperlink" Target="https://github.com/marcpems/IronRDP-ci-benchmark/blob/experiment/x64-pgo-1991/ci-benchmark/WINDOWS-X64-OPTIMIZATION.md" TargetMode="External"/><Relationship Id="rId11" Type="http://schemas.openxmlformats.org/officeDocument/2006/relationships/hyperlink" Target="https://github.com/marcpems/IronRDP-ci-benchmark/blob/experiment/x64-pgo-1991/ci-benchmark/OPTIMIZED-TOOLCHAIN.md" TargetMode="External"/><Relationship Id="rId12" Type="http://schemas.openxmlformats.org/officeDocument/2006/relationships/hyperlink" Target="https://github.com/marcpems/IronRDP-ci-benchmark/blob/experiment/x64-pgo-1991/ci-benchmark/matched-release/Rust-Compiler-Optimization-Maintainer-Brief.docx" TargetMode="External"/><Relationship Id="rId13" Type="http://schemas.openxmlformats.org/officeDocument/2006/relationships/hyperlink" Target="https://github.com/marcpems/IronRDP-ci-benchmark/blob/experiment/x64-pgo-1991/ci-benchmark/x64-nvme-scaling-protocol.json" TargetMode="External"/><Relationship Id="rId14" Type="http://schemas.openxmlformats.org/officeDocument/2006/relationships/hyperlink" Target="https://github.com/marcpems/IronRDP-ci-benchmark/blob/experiment/x64-pgo-1991/ci-benchmark/matched-release/README.md" TargetMode="External"/><Relationship Id="rId15" Type="http://schemas.openxmlformats.org/officeDocument/2006/relationships/hyperlink" Target="https://github.com/marcpems/IronRDP-ci-benchmark/blob/experiment/x64-pgo-1991/ci-benchmark/matched-release/selfhost-pilot-results.json" TargetMode="External"/><Relationship Id="rId16" Type="http://schemas.openxmlformats.org/officeDocument/2006/relationships/hyperlink" Target="https://github.com/marcpems/IronRDP-ci-benchmark/blob/experiment/x64-pgo-1991/ci-benchmark/matched-release/gb300-release-costs.json" TargetMode="External"/><Relationship Id="rId17" Type="http://schemas.openxmlformats.org/officeDocument/2006/relationships/hyperlink" Target="https://github.com/marcpems/IronRDP-ci-benchmark/blob/experiment/x64-pgo-1991/ci-benchmark/upstream-release-throughput/README.md" TargetMode="External"/><Relationship Id="rId18" Type="http://schemas.openxmlformats.org/officeDocument/2006/relationships/hyperlink" Target="https://github.com/marcpems/IronRDP-ci-benchmark/blob/experiment/x64-pgo-1991/ci-benchmark/msvc-linker/README.md" TargetMode="External"/><Relationship Id="rId19" Type="http://schemas.openxmlformats.org/officeDocument/2006/relationships/hyperlink" Target="https://github.com/marcpems/IronRDP-ci-benchmark/blob/experiment/x64-pgo-1991/ci-benchmark/matched-release/Rust-Compiler-Optimization-Maintainer-Brief.docx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arcpems/IronRDP-ci-benchmark/blob/experiment/x64-pgo-1991/ci-benchmark/X64-RUST-THIN-INCREMENTAL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A041E54-C336-A2FB-1558-7EE51DC53FFA}"/>
              </a:ext>
            </a:extLst>
          </p:cNvPr>
          <p:cNvSpPr txBox="1"/>
          <p:nvPr/>
        </p:nvSpPr>
        <p:spPr>
          <a:xfrm>
            <a:off x="609600" y="380999"/>
            <a:ext cx="10972800" cy="77470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14324F"/>
                </a:solidFill>
                <a:latin typeface="Calibri"/>
              </a:defRPr>
            </a:pPr>
            <a:r>
              <a:t>Building IronRDP: the Windows/Linux gap is real</a:t>
            </a:r>
          </a:p>
          <a:p>
            <a:pPr>
              <a:spcAft>
                <a:spcPts val="300"/>
              </a:spcAft>
              <a:defRPr sz="2300" b="1">
                <a:solidFill>
                  <a:srgbClr val="14324F"/>
                </a:solidFill>
                <a:latin typeface="Calibri"/>
              </a:defRPr>
            </a:pPr>
            <a:r>
              <a:t>IronRDP investigation prompted by Marc-Andre Moreau; Mac was not benchmarked.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3733CD3-E7D1-D69E-6734-FF05C84B7F56}"/>
              </a:ext>
            </a:extLst>
          </p:cNvPr>
          <p:cNvSpPr txBox="1"/>
          <p:nvPr/>
        </p:nvSpPr>
        <p:spPr>
          <a:xfrm>
            <a:off x="609600" y="1327554"/>
            <a:ext cx="10972800" cy="93304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4324F"/>
                </a:solidFill>
                <a:latin typeface="Calibri"/>
              </a:defRPr>
            </a:pPr>
            <a:r>
              <a:t>Initial offline IronRDP wall: Windows/Linux = 1.82x x64 / 1.69x Arm64</a:t>
            </a:r>
          </a:p>
          <a:p>
            <a:pPr>
              <a:spcAft>
                <a:spcPts val="300"/>
              </a:spcAft>
              <a:defRPr sz="1700" b="0">
                <a:solidFill>
                  <a:srgbClr val="14324F"/>
                </a:solidFill>
                <a:latin typeface="Calibri"/>
              </a:defRPr>
            </a:pPr>
            <a:r>
              <a:t>Three independent standard GitHub jobs per OS/architecture; setup, transfers and tests excluded.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ACC12C-6A7D-6205-2CBE-36CB0BC18884}"/>
              </a:ext>
            </a:extLst>
          </p:cNvPr>
          <p:cNvSpPr/>
          <p:nvPr/>
        </p:nvSpPr>
        <p:spPr>
          <a:xfrm>
            <a:off x="609600" y="2159000"/>
            <a:ext cx="10972800" cy="38100"/>
          </a:xfrm>
          <a:prstGeom prst="rect">
            <a:avLst/>
          </a:prstGeom>
          <a:solidFill>
            <a:srgbClr val="007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" name="Results table">
            <a:extLst>
              <a:ext uri="{FF2B5EF4-FFF2-40B4-BE49-F238E27FC236}">
                <a16:creationId xmlns:a16="http://schemas.microsoft.com/office/drawing/2014/main" id="{0562D953-7E23-A268-33E0-B169DB0E8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747641"/>
              </p:ext>
            </p:extLst>
          </p:nvPr>
        </p:nvGraphicFramePr>
        <p:xfrm>
          <a:off x="609600" y="2692400"/>
          <a:ext cx="1097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89925164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73494432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13129517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27366855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GB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Platform</a:t>
                      </a:r>
                    </a:p>
                  </a:txBody>
                  <a:tcPr marL="127000" marR="1016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Shipping Rust</a:t>
                      </a:r>
                    </a:p>
                  </a:txBody>
                  <a:tcPr marL="127000" marR="1016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Optimized</a:t>
                      </a:r>
                    </a:p>
                  </a:txBody>
                  <a:tcPr marL="127000" marR="1016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Reduction</a:t>
                      </a:r>
                    </a:p>
                  </a:txBody>
                  <a:tcPr marL="127000" marR="101600" marT="50800" marB="50800" anchor="ctr">
                    <a:solidFill>
                      <a:srgbClr val="14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93065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Windows x64</a:t>
                      </a:r>
                    </a:p>
                  </a:txBody>
                  <a:tcPr marL="1270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957.41</a:t>
                      </a:r>
                    </a:p>
                  </a:txBody>
                  <a:tcPr marL="1270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730.64</a:t>
                      </a:r>
                    </a:p>
                  </a:txBody>
                  <a:tcPr marL="1270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23.7%</a:t>
                      </a:r>
                    </a:p>
                  </a:txBody>
                  <a:tcPr marL="127000" marR="101600" marT="50800" marB="50800" anchor="ctr">
                    <a:solidFill>
                      <a:srgbClr val="EF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10032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Windows Arm64</a:t>
                      </a:r>
                    </a:p>
                  </a:txBody>
                  <a:tcPr marL="1270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709.64</a:t>
                      </a:r>
                    </a:p>
                  </a:txBody>
                  <a:tcPr marL="1270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595.99</a:t>
                      </a:r>
                    </a:p>
                  </a:txBody>
                  <a:tcPr marL="1270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16.0%</a:t>
                      </a:r>
                    </a:p>
                  </a:txBody>
                  <a:tcPr marL="1270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155812"/>
                  </a:ext>
                </a:extLst>
              </a:tr>
            </a:tbl>
          </a:graphicData>
        </a:graphic>
      </p:graphicFrame>
      <p:sp>
        <p:nvSpPr>
          <p:cNvPr id="7" name="Note-398">
            <a:extLst>
              <a:ext uri="{FF2B5EF4-FFF2-40B4-BE49-F238E27FC236}">
                <a16:creationId xmlns:a16="http://schemas.microsoft.com/office/drawing/2014/main" id="{C077F2C9-34DD-6349-E3DE-7D320B4169CA}"/>
              </a:ext>
            </a:extLst>
          </p:cNvPr>
          <p:cNvSpPr txBox="1"/>
          <p:nvPr/>
        </p:nvSpPr>
        <p:spPr>
          <a:xfrm>
            <a:off x="603115" y="4457700"/>
            <a:ext cx="10972800" cy="192364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Historical optimized bundle: rustc + LLVM PGO, Rust + LLVM ThinLTO,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and LLVM lld-link / llvm-lib. Native C/C++ compilation remained clang-cl.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These are not same-Microsoft-tools or PGO-only gains.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Five VMs/OS; three measured rounds after warmup. No application-runtime claim.</a:t>
            </a:r>
          </a:p>
        </p:txBody>
      </p:sp>
      <p:sp>
        <p:nvSpPr>
          <p:cNvPr id="8" name="Note-424">
            <a:extLst>
              <a:ext uri="{FF2B5EF4-FFF2-40B4-BE49-F238E27FC236}">
                <a16:creationId xmlns:a16="http://schemas.microsoft.com/office/drawing/2014/main" id="{1E94796F-DA4F-8C29-538A-C9D70A3BE51A}"/>
              </a:ext>
            </a:extLst>
          </p:cNvPr>
          <p:cNvSpPr txBox="1"/>
          <p:nvPr/>
        </p:nvSpPr>
        <p:spPr>
          <a:xfrm>
            <a:off x="609600" y="5384799"/>
            <a:ext cx="109728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en-GB" sz="1600" dirty="0">
              <a:solidFill>
                <a:srgbClr val="506072"/>
              </a:solidFill>
              <a:latin typeface="Calibri" panose="020F0502020204030204" pitchFamily="34" charset="0"/>
            </a:endParaRPr>
          </a:p>
        </p:txBody>
      </p:sp>
      <p:sp>
        <p:nvSpPr>
          <p:cNvPr id="9" name="Note-450">
            <a:extLst>
              <a:ext uri="{FF2B5EF4-FFF2-40B4-BE49-F238E27FC236}">
                <a16:creationId xmlns:a16="http://schemas.microsoft.com/office/drawing/2014/main" id="{E87E70ED-9B69-33FC-AC56-A1DE1992977B}"/>
              </a:ext>
            </a:extLst>
          </p:cNvPr>
          <p:cNvSpPr txBox="1"/>
          <p:nvPr/>
        </p:nvSpPr>
        <p:spPr>
          <a:xfrm>
            <a:off x="609600" y="5714999"/>
            <a:ext cx="109728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506072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Evidence">
            <a:hlinkClick r:id="rId2"/>
            <a:extLst>
              <a:ext uri="{FF2B5EF4-FFF2-40B4-BE49-F238E27FC236}">
                <a16:creationId xmlns:a16="http://schemas.microsoft.com/office/drawing/2014/main" id="{CC00B670-785A-BCA8-4197-9F4538D5325B}"/>
              </a:ext>
            </a:extLst>
          </p:cNvPr>
          <p:cNvSpPr txBox="1"/>
          <p:nvPr/>
        </p:nvSpPr>
        <p:spPr>
          <a:xfrm>
            <a:off x="609600" y="6477000"/>
            <a:ext cx="1041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t>Rust 1.94.1; 95% intervals: x64 21.7-25.3%, Arm64 15.4-16.7%. Updated 30 October 2026.</a:t>
            </a:r>
            <a:endParaRPr lang="en-GB" sz="1000">
              <a:solidFill>
                <a:srgbClr val="506072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D49C7F48-8821-B814-5836-661E77877946}"/>
              </a:ext>
            </a:extLst>
          </p:cNvPr>
          <p:cNvSpPr txBox="1"/>
          <p:nvPr/>
        </p:nvSpPr>
        <p:spPr>
          <a:xfrm>
            <a:off x="11150600" y="6477000"/>
            <a:ext cx="635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1 / 14</a:t>
            </a:r>
          </a:p>
        </p:txBody>
      </p:sp>
      <p:sp>
        <p:nvSpPr>
          <p:cNvPr id="12" name="IronRDP optimization results"/>
          <p:cNvSpPr txBox="1"/>
          <p:nvPr/>
        </p:nvSpPr>
        <p:spPr>
          <a:xfrm>
            <a:off x="609600" y="2298700"/>
            <a:ext cx="109728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4324F"/>
                </a:solidFill>
                <a:latin typeface="Calibri"/>
              </a:defRPr>
            </a:pPr>
            <a:r>
              <a:t>Separate repeated study: IronRDP wall seconds using shipping versus broadly optimized Rust</a:t>
            </a:r>
          </a:p>
        </p:txBody>
      </p:sp>
    </p:spTree>
    <p:extLst>
      <p:ext uri="{BB962C8B-B14F-4D97-AF65-F5344CB8AC3E}">
        <p14:creationId xmlns:p14="http://schemas.microsoft.com/office/powerpoint/2010/main" val="492689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43A03B9-0827-495B-E2AA-D1B10B53C7A3}"/>
              </a:ext>
            </a:extLst>
          </p:cNvPr>
          <p:cNvSpPr txBox="1"/>
          <p:nvPr/>
        </p:nvSpPr>
        <p:spPr>
          <a:xfrm>
            <a:off x="609600" y="380999"/>
            <a:ext cx="109728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324F"/>
                </a:solidFill>
                <a:latin typeface="Calibri"/>
              </a:defRPr>
            </a:pPr>
            <a:r>
              <a:t>PGO benefit with the Windows tool stack unchanged</a:t>
            </a:r>
            <a:endParaRPr lang="en-GB" sz="3100" b="1" dirty="0">
              <a:solidFill>
                <a:srgbClr val="14324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0759EAE-B043-245D-3131-F642C65C669C}"/>
              </a:ext>
            </a:extLst>
          </p:cNvPr>
          <p:cNvSpPr txBox="1"/>
          <p:nvPr/>
        </p:nvSpPr>
        <p:spPr>
          <a:xfrm>
            <a:off x="609600" y="10794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06072"/>
                </a:solidFill>
                <a:latin typeface="Calibri"/>
              </a:defRPr>
            </a:pPr>
            <a:r>
              <a:t>Benefit endpoint: building IronRDP, not building Rust. clang-cl and Microsoft link.exe / lib.exe retained.</a:t>
            </a:r>
            <a:endParaRPr lang="en-GB" sz="1500" dirty="0">
              <a:solidFill>
                <a:srgbClr val="506072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FEC87F-011D-A556-14B8-B14E337212C0}"/>
              </a:ext>
            </a:extLst>
          </p:cNvPr>
          <p:cNvSpPr/>
          <p:nvPr/>
        </p:nvSpPr>
        <p:spPr>
          <a:xfrm>
            <a:off x="609600" y="1511300"/>
            <a:ext cx="10972800" cy="38100"/>
          </a:xfrm>
          <a:prstGeom prst="rect">
            <a:avLst/>
          </a:prstGeom>
          <a:solidFill>
            <a:srgbClr val="007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onclusion">
            <a:extLst>
              <a:ext uri="{FF2B5EF4-FFF2-40B4-BE49-F238E27FC236}">
                <a16:creationId xmlns:a16="http://schemas.microsoft.com/office/drawing/2014/main" id="{8D479461-78DD-E948-55F6-2E1221AE1A75}"/>
              </a:ext>
            </a:extLst>
          </p:cNvPr>
          <p:cNvSpPr txBox="1"/>
          <p:nvPr/>
        </p:nvSpPr>
        <p:spPr>
          <a:xfrm>
            <a:off x="609600" y="4444999"/>
            <a:ext cx="109728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007F8B"/>
                </a:solidFill>
                <a:latin typeface="Calibri"/>
              </a:defRPr>
            </a:pPr>
            <a:r>
              <a:t>Do not add or subtract percentages with different controls.</a:t>
            </a:r>
            <a:endParaRPr lang="en-GB" sz="2000" b="1" dirty="0">
              <a:solidFill>
                <a:srgbClr val="007F8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Note-398">
            <a:extLst>
              <a:ext uri="{FF2B5EF4-FFF2-40B4-BE49-F238E27FC236}">
                <a16:creationId xmlns:a16="http://schemas.microsoft.com/office/drawing/2014/main" id="{8704A6A5-1E8B-797B-FACF-04F3DABDA9C6}"/>
              </a:ext>
            </a:extLst>
          </p:cNvPr>
          <p:cNvSpPr txBox="1"/>
          <p:nvPr/>
        </p:nvSpPr>
        <p:spPr>
          <a:xfrm>
            <a:off x="609600" y="5129714"/>
            <a:ext cx="10972800" cy="12151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506072"/>
                </a:solidFill>
                <a:latin typeface="Calibri"/>
              </a:defRPr>
            </a:pPr>
            <a:r>
              <a:t>Historical 7.6% x64 gain added both ThinLTO modes with LLVM linking.</a:t>
            </a:r>
          </a:p>
          <a:p>
            <a:pPr>
              <a:spcAft>
                <a:spcPts val="300"/>
              </a:spcAft>
              <a:defRPr sz="1700" b="0">
                <a:solidFill>
                  <a:srgbClr val="506072"/>
                </a:solidFill>
                <a:latin typeface="Calibri"/>
              </a:defRPr>
            </a:pPr>
            <a:r>
              <a:t>It is not the same-tools LTO estimate. Profile-only studies hold Rust-side</a:t>
            </a:r>
          </a:p>
          <a:p>
            <a:pPr>
              <a:spcAft>
                <a:spcPts val="300"/>
              </a:spcAft>
              <a:defRPr sz="1700" b="0">
                <a:solidFill>
                  <a:srgbClr val="506072"/>
                </a:solidFill>
                <a:latin typeface="Calibri"/>
              </a:defRPr>
            </a:pPr>
            <a:r>
              <a:t>profiles and existing LTO fixed; three rounds on one host, not a population interval.</a:t>
            </a:r>
          </a:p>
        </p:txBody>
      </p:sp>
      <p:sp>
        <p:nvSpPr>
          <p:cNvPr id="10" name="Evidence">
            <a:hlinkClick r:id="rId2"/>
            <a:extLst>
              <a:ext uri="{FF2B5EF4-FFF2-40B4-BE49-F238E27FC236}">
                <a16:creationId xmlns:a16="http://schemas.microsoft.com/office/drawing/2014/main" id="{06D85F4D-7968-D2FE-0B73-53F0FFBAD5FF}"/>
              </a:ext>
            </a:extLst>
          </p:cNvPr>
          <p:cNvSpPr txBox="1"/>
          <p:nvPr/>
        </p:nvSpPr>
        <p:spPr>
          <a:xfrm>
            <a:off x="609600" y="6477000"/>
            <a:ext cx="1041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06072"/>
                </a:solidFill>
                <a:latin typeface="Calibri" panose="020F0502020204030204" pitchFamily="34" charset="0"/>
              </a:rPr>
              <a:t>selfhost-pilot-results.json; X64-NATIVE-RESULTS.json (repeated matched-LTO comparison).</a:t>
            </a:r>
            <a:endParaRPr lang="en-GB" sz="1000">
              <a:solidFill>
                <a:srgbClr val="506072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3FD4B08B-06AB-F499-461F-4E7C814D12E3}"/>
              </a:ext>
            </a:extLst>
          </p:cNvPr>
          <p:cNvSpPr txBox="1"/>
          <p:nvPr/>
        </p:nvSpPr>
        <p:spPr>
          <a:xfrm>
            <a:off x="11150600" y="6477000"/>
            <a:ext cx="635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2 / 14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9600" y="1752600"/>
          <a:ext cx="1097280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2159000"/>
                <a:gridCol w="2717800"/>
                <a:gridCol w="2667000"/>
              </a:tblGrid>
              <a:tr h="4953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Same-tools comparison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x64 wall saving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Arm64 wall saving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Control / status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LLVM profile: Rust 1.94.1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13.73%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Not measured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Matched rebuilds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LLVM profile: Rust 1.99.1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12.93%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Not measured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Matched rebuilds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Fresh PGO recipe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24.62%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24.44%; GB300 21.46%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Versus no PGO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Add Rust-only ThinLTO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Calibri"/>
                        </a:defRPr>
                      </a:pPr>
                      <a:r>
                        <a:t>0.05% slower wall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Not measured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Calibri"/>
                        </a:defRPr>
                      </a:pPr>
                      <a:r>
                        <a:t>x64 pilot; CPU -0.36%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20961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324F"/>
                </a:solidFill>
                <a:latin typeface="Calibri"/>
              </a:defRPr>
            </a:pPr>
            <a:r>
              <a:t>Later x64 studies: benefit and production cost differ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79500"/>
            <a:ext cx="109728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06072"/>
                </a:solidFill>
                <a:latin typeface="Calibri"/>
              </a:defRPr>
            </a:pPr>
            <a:r>
              <a:t>Keep each control and workload explicit; do not combine percentages across experiments.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752600"/>
          <a:ext cx="10972800" cy="23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0"/>
                <a:gridCol w="3352800"/>
                <a:gridCol w="3302000"/>
              </a:tblGrid>
              <a:tr h="58420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Comparison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Measured endpoint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Fresh artifact vs shipping Rust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IronRDP offline wall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18.0% less (15.0-20.8%)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Same artifact vs upstream rebuild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IronRDP offline wall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20.9% less (18.1-23.4%)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Two opposite-order release pairs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Rust production / whole job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2.71% / 4.00% more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085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007F8B"/>
                </a:solidFill>
                <a:latin typeface="Calibri"/>
              </a:defRPr>
            </a:pPr>
            <a:r>
              <a:t>These are not the isolated 13.73% / 12.93% LLVM-profile estimates.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105400"/>
            <a:ext cx="10972800" cy="1193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Five independent standard Windows VMs; intervals resample paired VMs.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Common official Cargo/std were experimental controls, not deployment requirements.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Native build/linker differences remain; no added ThinLTO in this comparison.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Observed production-pair ranges are not confidence intervals.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609600" y="6477000"/>
            <a:ext cx="10287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t>X64-PGO-FRESH-REPLAY.md / X64-PGO-COMPARISON.md; accepted full distributions qualified.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0600" y="6477000"/>
            <a:ext cx="698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4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2D86B23-9087-39AF-E946-65EA982CF7D6}"/>
              </a:ext>
            </a:extLst>
          </p:cNvPr>
          <p:cNvSpPr txBox="1"/>
          <p:nvPr/>
        </p:nvSpPr>
        <p:spPr>
          <a:xfrm>
            <a:off x="609600" y="380999"/>
            <a:ext cx="109728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324F"/>
                </a:solidFill>
                <a:latin typeface="Calibri"/>
              </a:defRPr>
            </a:pPr>
            <a:r>
              <a:t>Building Rust: accepted x64 D: NVMe release times</a:t>
            </a:r>
            <a:endParaRPr lang="en-GB" sz="3100" b="1" dirty="0">
              <a:solidFill>
                <a:srgbClr val="14324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CBE8007-1C7D-63A6-F248-EFB668DF2CAB}"/>
              </a:ext>
            </a:extLst>
          </p:cNvPr>
          <p:cNvSpPr txBox="1"/>
          <p:nvPr/>
        </p:nvSpPr>
        <p:spPr>
          <a:xfrm>
            <a:off x="609600" y="10794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06072"/>
                </a:solidFill>
                <a:latin typeface="Calibri"/>
              </a:defRPr>
            </a:pPr>
            <a:r>
              <a:t>16 logical processors / 8 physical cores; same Microsoft linking tools; no added cross-crate ThinLTO</a:t>
            </a:r>
            <a:endParaRPr lang="en-GB" sz="1500">
              <a:solidFill>
                <a:srgbClr val="506072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D8FCE-0E0D-95CA-100A-9E8A558108A5}"/>
              </a:ext>
            </a:extLst>
          </p:cNvPr>
          <p:cNvSpPr/>
          <p:nvPr/>
        </p:nvSpPr>
        <p:spPr>
          <a:xfrm>
            <a:off x="609600" y="1511300"/>
            <a:ext cx="10972800" cy="38100"/>
          </a:xfrm>
          <a:prstGeom prst="rect">
            <a:avLst/>
          </a:prstGeom>
          <a:solidFill>
            <a:srgbClr val="007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Note-398">
            <a:extLst>
              <a:ext uri="{FF2B5EF4-FFF2-40B4-BE49-F238E27FC236}">
                <a16:creationId xmlns:a16="http://schemas.microsoft.com/office/drawing/2014/main" id="{A34112C1-7A1B-8FA8-E10E-E712AFA3C204}"/>
              </a:ext>
            </a:extLst>
          </p:cNvPr>
          <p:cNvSpPr txBox="1"/>
          <p:nvPr/>
        </p:nvSpPr>
        <p:spPr>
          <a:xfrm>
            <a:off x="609600" y="5562600"/>
            <a:ext cx="10972800" cy="850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06072"/>
                </a:solidFill>
                <a:latin typeface="Calibri"/>
              </a:defRPr>
            </a:pPr>
            <a:r>
              <a:t>*Fixed-profile qualification includes helper/orchestration. 1.94.1 recovery was split.</a:t>
            </a:r>
          </a:p>
          <a:p>
            <a:pPr>
              <a:spcAft>
                <a:spcPts val="300"/>
              </a:spcAft>
              <a:defRPr sz="1600" b="0">
                <a:solidFill>
                  <a:srgbClr val="506072"/>
                </a:solidFill>
                <a:latin typeface="Calibri"/>
              </a:defRPr>
            </a:pPr>
            <a:r>
              <a:t>Compiler-cache service not enabled: hit rate N/A, not measured 0%.</a:t>
            </a:r>
          </a:p>
          <a:p>
            <a:pPr>
              <a:spcAft>
                <a:spcPts val="300"/>
              </a:spcAft>
              <a:defRPr sz="1600" b="0">
                <a:solidFill>
                  <a:srgbClr val="506072"/>
                </a:solidFill>
                <a:latin typeface="Calibri"/>
              </a:defRPr>
            </a:pPr>
            <a:r>
              <a:t>Whole-job time includes setup and transfers; these are not IronRDP timings.</a:t>
            </a:r>
          </a:p>
        </p:txBody>
      </p:sp>
      <p:sp>
        <p:nvSpPr>
          <p:cNvPr id="9" name="Evidence">
            <a:hlinkClick r:id="rId2"/>
            <a:extLst>
              <a:ext uri="{FF2B5EF4-FFF2-40B4-BE49-F238E27FC236}">
                <a16:creationId xmlns:a16="http://schemas.microsoft.com/office/drawing/2014/main" id="{216BFC35-4870-0693-982F-DDB5F98D04E3}"/>
              </a:ext>
            </a:extLst>
          </p:cNvPr>
          <p:cNvSpPr txBox="1"/>
          <p:nvPr/>
        </p:nvSpPr>
        <p:spPr>
          <a:xfrm>
            <a:off x="609600" y="6477000"/>
            <a:ext cx="1041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t>D: ReFS / SK hynix NVMe; correctness scratch on C: NTFS. See current summary section 6.2.</a:t>
            </a:r>
            <a:endParaRPr lang="en-GB" sz="1000">
              <a:solidFill>
                <a:srgbClr val="506072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F9A407F-76E2-E9D9-3546-8D3E46C1F5CA}"/>
              </a:ext>
            </a:extLst>
          </p:cNvPr>
          <p:cNvSpPr txBox="1"/>
          <p:nvPr/>
        </p:nvSpPr>
        <p:spPr>
          <a:xfrm>
            <a:off x="11150600" y="6477000"/>
            <a:ext cx="635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5 / 14</a:t>
            </a:r>
          </a:p>
        </p:txBody>
      </p:sp>
      <p:sp>
        <p:nvSpPr>
          <p:cNvPr id="12" name="Note-398">
            <a:extLst>
              <a:ext uri="{FF2B5EF4-FFF2-40B4-BE49-F238E27FC236}">
                <a16:creationId xmlns:a16="http://schemas.microsoft.com/office/drawing/2014/main" id="{890D6C42-CE88-815E-B44A-94B2309BAB9E}"/>
              </a:ext>
            </a:extLst>
          </p:cNvPr>
          <p:cNvSpPr txBox="1"/>
          <p:nvPr/>
        </p:nvSpPr>
        <p:spPr>
          <a:xfrm>
            <a:off x="609600" y="4724400"/>
            <a:ext cx="10972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7F8B"/>
                </a:solidFill>
                <a:latin typeface="Calibri"/>
              </a:defRPr>
            </a:pPr>
            <a:r>
              <a:t>Fixed-profile rows exclude training; the current-PR row includes fresh PGO.</a:t>
            </a:r>
          </a:p>
          <a:p>
            <a:pPr>
              <a:spcAft>
                <a:spcPts val="300"/>
              </a:spcAft>
              <a:defRPr sz="1800" b="1">
                <a:solidFill>
                  <a:srgbClr val="007F8B"/>
                </a:solidFill>
                <a:latin typeface="Calibri"/>
              </a:defRPr>
            </a:pPr>
            <a:r>
              <a:t>1.99.1 separate training: 1h20m33s (whole training job 1h34m52s).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09600" y="1752600"/>
          <a:ext cx="1097280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/>
                <a:gridCol w="2032000"/>
                <a:gridCol w="2159000"/>
                <a:gridCol w="2590800"/>
              </a:tblGrid>
              <a:tr h="4699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Rust / LLVM profile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Production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Qualification*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Whole job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1.94.1 / official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1h15m06s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10m31s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Split recovery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1.94.1 / repaired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1h12m17s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9m42s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Not comparable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1.99.1 / official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1h12m17s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9m44s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1h52m42s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1.99.1 / repaired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1h10m19s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9m41s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1h53m20s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Current PR / fresh PGO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2h24m37s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9m07s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2h59m01s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675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2981799-B495-7E06-43E7-E9C43D8F63A5}"/>
              </a:ext>
            </a:extLst>
          </p:cNvPr>
          <p:cNvSpPr txBox="1"/>
          <p:nvPr/>
        </p:nvSpPr>
        <p:spPr>
          <a:xfrm>
            <a:off x="609600" y="380999"/>
            <a:ext cx="109728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324F"/>
                </a:solidFill>
                <a:latin typeface="Calibri"/>
              </a:defRPr>
            </a:pPr>
            <a:r>
              <a:t>Building Rust: Arm64 scaling is separate evidence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B13F8E3-147B-9171-76F4-0E9641861F64}"/>
              </a:ext>
            </a:extLst>
          </p:cNvPr>
          <p:cNvSpPr txBox="1"/>
          <p:nvPr/>
        </p:nvSpPr>
        <p:spPr>
          <a:xfrm>
            <a:off x="609600" y="10794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06072"/>
                </a:solidFill>
                <a:latin typeface="Calibri" panose="020F0502020204030204" pitchFamily="34" charset="0"/>
              </a:rPr>
              <a:t>MSVC link/lib + fresh PGO + Rust ThinLTO; native LLVM ThinLTO off</a:t>
            </a:r>
            <a:endParaRPr lang="en-GB" sz="1500">
              <a:solidFill>
                <a:srgbClr val="506072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C481CF-1911-4A86-2B5B-36A5582165F1}"/>
              </a:ext>
            </a:extLst>
          </p:cNvPr>
          <p:cNvSpPr/>
          <p:nvPr/>
        </p:nvSpPr>
        <p:spPr>
          <a:xfrm>
            <a:off x="609600" y="1511300"/>
            <a:ext cx="10972800" cy="38100"/>
          </a:xfrm>
          <a:prstGeom prst="rect">
            <a:avLst/>
          </a:prstGeom>
          <a:solidFill>
            <a:srgbClr val="007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" name="Results table">
            <a:extLst>
              <a:ext uri="{FF2B5EF4-FFF2-40B4-BE49-F238E27FC236}">
                <a16:creationId xmlns:a16="http://schemas.microsoft.com/office/drawing/2014/main" id="{576552CF-BB1E-1487-3193-C7BBF3120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582814"/>
              </p:ext>
            </p:extLst>
          </p:nvPr>
        </p:nvGraphicFramePr>
        <p:xfrm>
          <a:off x="609600" y="1752600"/>
          <a:ext cx="109728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GB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Machine</a:t>
                      </a:r>
                    </a:p>
                  </a:txBody>
                  <a:tcPr marL="127000" marR="1016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Logical Processors</a:t>
                      </a:r>
                    </a:p>
                  </a:txBody>
                  <a:tcPr marL="127000" marR="1016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Production minutes</a:t>
                      </a:r>
                    </a:p>
                  </a:txBody>
                  <a:tcPr marL="127000" marR="1016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Time saved vs 4 LP</a:t>
                      </a:r>
                    </a:p>
                  </a:txBody>
                  <a:tcPr marL="127000" marR="101600" marT="50800" marB="50800" anchor="ctr">
                    <a:solidFill>
                      <a:srgbClr val="14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Arm64</a:t>
                      </a:r>
                    </a:p>
                  </a:txBody>
                  <a:tcPr marL="1270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270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507.8</a:t>
                      </a:r>
                    </a:p>
                  </a:txBody>
                  <a:tcPr marL="1270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127000" marR="101600" marT="50800" marB="50800" anchor="ctr">
                    <a:solidFill>
                      <a:srgbClr val="EF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Arm64</a:t>
                      </a:r>
                    </a:p>
                  </a:txBody>
                  <a:tcPr marL="1270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270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137.1</a:t>
                      </a:r>
                    </a:p>
                  </a:txBody>
                  <a:tcPr marL="1270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73.0%</a:t>
                      </a:r>
                    </a:p>
                  </a:txBody>
                  <a:tcPr marL="1270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Arm64</a:t>
                      </a:r>
                    </a:p>
                  </a:txBody>
                  <a:tcPr marL="1270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1270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112.0</a:t>
                      </a:r>
                    </a:p>
                  </a:txBody>
                  <a:tcPr marL="1270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14324F"/>
                          </a:solidFill>
                          <a:latin typeface="Calibri" panose="020F0502020204030204" pitchFamily="34" charset="0"/>
                        </a:rPr>
                        <a:t>77.9%</a:t>
                      </a:r>
                    </a:p>
                  </a:txBody>
                  <a:tcPr marL="127000" marR="101600" marT="50800" marB="50800" anchor="ctr">
                    <a:solidFill>
                      <a:srgbClr val="EF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Conclusion">
            <a:extLst>
              <a:ext uri="{FF2B5EF4-FFF2-40B4-BE49-F238E27FC236}">
                <a16:creationId xmlns:a16="http://schemas.microsoft.com/office/drawing/2014/main" id="{A6EECB65-981A-83CE-2253-BC1B56D33CA9}"/>
              </a:ext>
            </a:extLst>
          </p:cNvPr>
          <p:cNvSpPr txBox="1"/>
          <p:nvPr/>
        </p:nvSpPr>
        <p:spPr>
          <a:xfrm>
            <a:off x="629055" y="4451484"/>
            <a:ext cx="10972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007F8B"/>
                </a:solidFill>
                <a:latin typeface="Calibri"/>
              </a:defRPr>
            </a:pPr>
            <a:r>
              <a:t>Single observations in fixed order; not a validated scaling law.</a:t>
            </a:r>
          </a:p>
          <a:p>
            <a:pPr>
              <a:spcAft>
                <a:spcPts val="300"/>
              </a:spcAft>
              <a:defRPr sz="1900" b="1">
                <a:solidFill>
                  <a:srgbClr val="007F8B"/>
                </a:solidFill>
                <a:latin typeface="Calibri"/>
              </a:defRPr>
            </a:pPr>
            <a:r>
              <a:t>No IronRDP replay measured this recipe's incremental LTO benefit.</a:t>
            </a:r>
          </a:p>
        </p:txBody>
      </p:sp>
      <p:sp>
        <p:nvSpPr>
          <p:cNvPr id="8" name="Note-424">
            <a:extLst>
              <a:ext uri="{FF2B5EF4-FFF2-40B4-BE49-F238E27FC236}">
                <a16:creationId xmlns:a16="http://schemas.microsoft.com/office/drawing/2014/main" id="{D7A41863-6753-8B91-53CF-7D3252F8B0CF}"/>
              </a:ext>
            </a:extLst>
          </p:cNvPr>
          <p:cNvSpPr txBox="1"/>
          <p:nvPr/>
        </p:nvSpPr>
        <p:spPr>
          <a:xfrm>
            <a:off x="609600" y="5499370"/>
            <a:ext cx="10972800" cy="82847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506072"/>
                </a:solidFill>
                <a:latin typeface="Calibri"/>
              </a:defRPr>
            </a:pPr>
            <a:r>
              <a:t>Compiler-cache service not enabled (hit rate N/A).</a:t>
            </a:r>
          </a:p>
          <a:p>
            <a:pPr>
              <a:spcAft>
                <a:spcPts val="300"/>
              </a:spcAft>
              <a:defRPr sz="1700" b="0">
                <a:solidFill>
                  <a:srgbClr val="506072"/>
                </a:solidFill>
                <a:latin typeface="Calibri"/>
              </a:defRPr>
            </a:pPr>
            <a:r>
              <a:t>Do not relabel these results as x64. The x64 NVMe comparison is running.</a:t>
            </a:r>
          </a:p>
        </p:txBody>
      </p:sp>
      <p:sp>
        <p:nvSpPr>
          <p:cNvPr id="10" name="Evidence">
            <a:hlinkClick r:id="rId2"/>
            <a:extLst>
              <a:ext uri="{FF2B5EF4-FFF2-40B4-BE49-F238E27FC236}">
                <a16:creationId xmlns:a16="http://schemas.microsoft.com/office/drawing/2014/main" id="{AACBFDAD-723B-2E34-7B82-E0ECA4476217}"/>
              </a:ext>
            </a:extLst>
          </p:cNvPr>
          <p:cNvSpPr txBox="1"/>
          <p:nvPr/>
        </p:nvSpPr>
        <p:spPr>
          <a:xfrm>
            <a:off x="609600" y="6477000"/>
            <a:ext cx="1041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t>MARCPE-D4-Arm64; qualified runs 38756702383 / 38873093226 / 38728610658.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B07D5267-C69D-AE84-CA5C-AF8A820B88C2}"/>
              </a:ext>
            </a:extLst>
          </p:cNvPr>
          <p:cNvSpPr txBox="1"/>
          <p:nvPr/>
        </p:nvSpPr>
        <p:spPr>
          <a:xfrm>
            <a:off x="11150600" y="6477000"/>
            <a:ext cx="635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6 / 14</a:t>
            </a:r>
          </a:p>
        </p:txBody>
      </p:sp>
    </p:spTree>
    <p:extLst>
      <p:ext uri="{BB962C8B-B14F-4D97-AF65-F5344CB8AC3E}">
        <p14:creationId xmlns:p14="http://schemas.microsoft.com/office/powerpoint/2010/main" val="2913054890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324F"/>
                </a:solidFill>
                <a:latin typeface="Calibri"/>
              </a:defRPr>
            </a:pPr>
            <a:r>
              <a:t>Building Rust: fresh x64 NVMe scaling is 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79500"/>
            <a:ext cx="109728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500" b="0">
                <a:solidFill>
                  <a:srgbClr val="506072"/>
                </a:solidFill>
                <a:latin typeface="Calibri"/>
              </a:defRPr>
            </a:pPr>
            <a:r>
              <a:t>Snapshot: 30 October 2026. 16-LP reference qualified; 8/4-LP comparison remains pending.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752600"/>
          <a:ext cx="109728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/>
                <a:gridCol w="4241800"/>
                <a:gridCol w="3937000"/>
              </a:tblGrid>
              <a:tr h="55880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Order / allocation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Qualification gate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 / 16 LP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latin typeface="Calibri"/>
                        </a:defRPr>
                      </a:pPr>
                      <a:r>
                        <a:t>Qualified: whole job 3h02m41s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New full-PGO reference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 / 8 LP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latin typeface="Calibri"/>
                        </a:defRPr>
                      </a:pPr>
                      <a:r>
                        <a:t>Build/qualification running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Same source, tools and recipe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3 / 4 LP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Pending successful 8-LP cell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Fresh objects and new training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330700"/>
            <a:ext cx="109728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007F8B"/>
                </a:solidFill>
                <a:latin typeface="Calibri"/>
              </a:defRPr>
            </a:pPr>
            <a:r>
              <a:t>LP means logical processors: this host has 8 physical cores / 16 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927600"/>
            <a:ext cx="10972800" cy="1358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D: ReFS on the same SK hynix NVMe; record affinity and actual physical topology.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No compiler-cache service (N/A hit rate); normal within-pipeline reuse remains.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Single-pass, fixed-order, fresh-profile observations: not a stable scaling law.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Measures Rust production, not IronRDP performance or incremental LTO.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609600" y="6477000"/>
            <a:ext cx="10287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t>Live run 41054163612; protocol and evidence on the canonical reporting branch.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0600" y="6477000"/>
            <a:ext cx="698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7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324F"/>
                </a:solidFill>
                <a:latin typeface="Calibri"/>
              </a:defRPr>
            </a:pPr>
            <a:r>
              <a:t>Actual upstream artifact: the expected gain is absent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79500"/>
            <a:ext cx="109728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06072"/>
                </a:solidFill>
                <a:latin typeface="Calibri"/>
              </a:defRPr>
            </a:pPr>
            <a:r>
              <a:t>IronRDP compilation with Rust 1.101.0-nightly try 51dae839 versus exact parent dc44e7f.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752600"/>
          <a:ext cx="109728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0"/>
                <a:gridCol w="3327400"/>
                <a:gridCol w="3327400"/>
              </a:tblGrid>
              <a:tr h="55880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Already-built toolchain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IronRDP wall seconds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Descendant CPU seconds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Exact parent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630.066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2443.008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Requested upstream artifact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628.713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2439.039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Reduction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0.21%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0.16%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356100"/>
            <a:ext cx="10972800" cy="469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7F8B"/>
                </a:solidFill>
                <a:latin typeface="Calibri"/>
              </a:defRPr>
            </a:pPr>
            <a:r>
              <a:t>This did not reproduce the earlier approximately 13% gain.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003800"/>
            <a:ext cx="10972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Two cold five-command blocks per compiler; same four-CPU affinity and Cargo,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each compiler's own std. One failed source-read block was verified and resumed.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20 successful measured commands; no statistical qualification.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Training coverage was restored, but the producer reported 100% native cache hits.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609600" y="6477000"/>
            <a:ext cx="10287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t>Completed artifact check: 40409913485. Raw records and failure history: later-pgo-evidence.zip.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0600" y="6477000"/>
            <a:ext cx="698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8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324F"/>
                </a:solidFill>
                <a:latin typeface="Calibri"/>
              </a:defRPr>
            </a:pPr>
            <a:r>
              <a:t>Native cache defect: before linking, not in Cargo replay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79500"/>
            <a:ext cx="109728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06072"/>
                </a:solidFill>
                <a:latin typeface="Calibri"/>
              </a:defRPr>
            </a:pPr>
            <a:r>
              <a:t>Strong causal evidence, but no cache-corrected end-to-end performance recovery yet.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752600"/>
          <a:ext cx="109728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0"/>
                <a:gridCol w="5892800"/>
              </a:tblGrid>
              <a:tr h="5588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Producer evidence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 result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Native C / C++ cache hits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212 / 10,341; both 100.00%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LLVM profile backend coverage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Try active; parent groups absent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Local sccache 0.10.0 reproduction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Changed profile at same path -&gt; stale hit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318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007F8B"/>
                </a:solidFill>
                <a:latin typeface="Calibri"/>
              </a:defRPr>
            </a:pPr>
            <a:r>
              <a:t>New profile -&gt; cached old LLVM objects -&gt; no expected compiler gain.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9403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Bare -fprofile-instr-use hashes the path, not profile contents, in this MSVC path.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PGO acts during compilation; Microsoft link.exe cannot redo bypassed optimization.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Scope SCCACHE_EXTRAFILES to final profile use; preserve earlier-stage caches.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t>Counters are whole-job totals. Local Clang 23.1.4 differed from upstream 22.1.8.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609600" y="6477000"/>
            <a:ext cx="10287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t>Producer log: 25 October 19:10:06 UTC, sccache stats. No per-object historical provenance.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0600" y="6477000"/>
            <a:ext cx="698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9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9269D70-788E-602B-37CD-E93016D5A5BF}"/>
              </a:ext>
            </a:extLst>
          </p:cNvPr>
          <p:cNvSpPr txBox="1"/>
          <p:nvPr/>
        </p:nvSpPr>
        <p:spPr>
          <a:xfrm>
            <a:off x="609600" y="380999"/>
            <a:ext cx="109728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14324F"/>
                </a:solidFill>
                <a:latin typeface="Calibri"/>
              </a:defRPr>
            </a:pPr>
            <a:r>
              <a:t>Priorities: fix profile-aware caching, then qualify</a:t>
            </a:r>
            <a:endParaRPr lang="en-GB" sz="3100" b="1" dirty="0">
              <a:solidFill>
                <a:srgbClr val="14324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0E80BC-7F79-8413-B483-F42981415F79}"/>
              </a:ext>
            </a:extLst>
          </p:cNvPr>
          <p:cNvSpPr/>
          <p:nvPr/>
        </p:nvSpPr>
        <p:spPr>
          <a:xfrm>
            <a:off x="609600" y="1096254"/>
            <a:ext cx="10972800" cy="38100"/>
          </a:xfrm>
          <a:prstGeom prst="rect">
            <a:avLst/>
          </a:prstGeom>
          <a:solidFill>
            <a:srgbClr val="007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Priorities">
            <a:extLst>
              <a:ext uri="{FF2B5EF4-FFF2-40B4-BE49-F238E27FC236}">
                <a16:creationId xmlns:a16="http://schemas.microsoft.com/office/drawing/2014/main" id="{738DB233-2DA8-E890-5A59-4528F1700761}"/>
              </a:ext>
            </a:extLst>
          </p:cNvPr>
          <p:cNvSpPr txBox="1"/>
          <p:nvPr/>
        </p:nvSpPr>
        <p:spPr>
          <a:xfrm>
            <a:off x="609600" y="1422400"/>
            <a:ext cx="10972800" cy="2705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2100" b="0">
                <a:solidFill>
                  <a:srgbClr val="14324F"/>
                </a:solidFill>
                <a:latin typeface="Calibri"/>
              </a:defRPr>
            </a:pPr>
            <a:pPr>
              <a:spcAft>
                <a:spcPts val="300"/>
              </a:spcAft>
              <a:defRPr sz="2100" b="0">
                <a:solidFill>
                  <a:srgbClr val="14324F"/>
                </a:solidFill>
                <a:latin typeface="Calibri"/>
              </a:defRPr>
            </a:pPr>
            <a:r>
              <a:t>1  Make final LLVM native cache keys profile-aware; demonstrate IronRDP recovery.</a:t>
            </a:r>
          </a:p>
          <a:p>
            <a:pPr>
              <a:spcAft>
                <a:spcPts val="300"/>
              </a:spcAft>
              <a:defRPr sz="2100" b="0">
                <a:solidFill>
                  <a:srgbClr val="14324F"/>
                </a:solidFill>
                <a:latin typeface="Calibri"/>
              </a:defRPr>
            </a:pPr>
            <a:r>
              <a:t>2  Deliver effective PGO while retaining the Microsoft tool stack.</a:t>
            </a:r>
          </a:p>
          <a:p>
            <a:pPr>
              <a:spcAft>
                <a:spcPts val="300"/>
              </a:spcAft>
              <a:defRPr sz="2100" b="0">
                <a:solidFill>
                  <a:srgbClr val="14324F"/>
                </a:solidFill>
                <a:latin typeface="Calibri"/>
              </a:defRPr>
            </a:pPr>
            <a:r>
              <a:t>3  Complete the running x64 NVMe 16 / 8 / 4-LP release comparison.</a:t>
            </a:r>
          </a:p>
          <a:p>
            <a:pPr>
              <a:spcAft>
                <a:spcPts val="300"/>
              </a:spcAft>
              <a:defRPr sz="2100" b="0">
                <a:solidFill>
                  <a:srgbClr val="14324F"/>
                </a:solidFill>
                <a:latin typeface="Calibri"/>
              </a:defRPr>
            </a:pPr>
            <a:r>
              <a:t>4  Reassess Rust-only ThinLTO after the null x64 pilot; Arm64 is unmeasured.</a:t>
            </a:r>
          </a:p>
          <a:p>
            <a:pPr>
              <a:spcAft>
                <a:spcPts val="300"/>
              </a:spcAft>
              <a:defRPr sz="2100" b="0">
                <a:solidFill>
                  <a:srgbClr val="14324F"/>
                </a:solidFill>
                <a:latin typeface="Calibri"/>
              </a:defRPr>
            </a:pPr>
            <a:r>
              <a:t>5  Optimize packaging and qualify the complete hosted production path.</a:t>
            </a:r>
          </a:p>
        </p:txBody>
      </p:sp>
      <p:sp>
        <p:nvSpPr>
          <p:cNvPr id="6" name="Conclusion">
            <a:extLst>
              <a:ext uri="{FF2B5EF4-FFF2-40B4-BE49-F238E27FC236}">
                <a16:creationId xmlns:a16="http://schemas.microsoft.com/office/drawing/2014/main" id="{0AA81700-1223-2717-9C99-D48DCB4261EF}"/>
              </a:ext>
            </a:extLst>
          </p:cNvPr>
          <p:cNvSpPr txBox="1"/>
          <p:nvPr/>
        </p:nvSpPr>
        <p:spPr>
          <a:xfrm>
            <a:off x="609600" y="4394200"/>
            <a:ext cx="10972800" cy="1181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007F8B"/>
                </a:solidFill>
                <a:latin typeface="Calibri"/>
              </a:defRPr>
            </a:pPr>
            <a:r>
              <a:t>Open PRs (30 October): Rust #164707 / #165138; sccache #2962.</a:t>
            </a:r>
          </a:p>
          <a:p>
            <a:pPr>
              <a:spcAft>
                <a:spcPts val="300"/>
              </a:spcAft>
              <a:defRPr sz="1800" b="0">
                <a:solidFill>
                  <a:srgbClr val="007F8B"/>
                </a:solidFill>
                <a:latin typeface="Calibri"/>
              </a:defRPr>
            </a:pPr>
            <a:r>
              <a:t>The cached upstream job took 2h19m30s; corrected cold-build time is unmeasured.</a:t>
            </a:r>
          </a:p>
          <a:p>
            <a:pPr>
              <a:spcAft>
                <a:spcPts val="300"/>
              </a:spcAft>
              <a:defRPr sz="1800" b="0">
                <a:solidFill>
                  <a:srgbClr val="007F8B"/>
                </a:solidFill>
                <a:latin typeface="Calibri"/>
              </a:defRPr>
            </a:pPr>
            <a:r>
              <a:t>No claim yet of restored official performance or a qualified sub-six-hour release.</a:t>
            </a:r>
          </a:p>
        </p:txBody>
      </p:sp>
      <p:sp>
        <p:nvSpPr>
          <p:cNvPr id="9" name="Evidence">
            <a:hlinkClick r:id="rId2"/>
            <a:extLst>
              <a:ext uri="{FF2B5EF4-FFF2-40B4-BE49-F238E27FC236}">
                <a16:creationId xmlns:a16="http://schemas.microsoft.com/office/drawing/2014/main" id="{F378CBC7-9ED3-A348-8BA2-C7A6609D8883}"/>
              </a:ext>
            </a:extLst>
          </p:cNvPr>
          <p:cNvSpPr txBox="1"/>
          <p:nvPr/>
        </p:nvSpPr>
        <p:spPr>
          <a:xfrm>
            <a:off x="609600" y="6477000"/>
            <a:ext cx="1041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06072"/>
                </a:solidFill>
                <a:latin typeface="Calibri" panose="020F0502020204030204" pitchFamily="34" charset="0"/>
              </a:rPr>
              <a:t>Combined report: methods, detailed tables, qualification caveats and source links</a:t>
            </a:r>
            <a:endParaRPr lang="en-GB" sz="1000">
              <a:solidFill>
                <a:srgbClr val="506072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69C7B1B7-9211-A806-55BB-C6F259CC6888}"/>
              </a:ext>
            </a:extLst>
          </p:cNvPr>
          <p:cNvSpPr txBox="1"/>
          <p:nvPr/>
        </p:nvSpPr>
        <p:spPr>
          <a:xfrm>
            <a:off x="11150600" y="6477000"/>
            <a:ext cx="635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10 / 14</a:t>
            </a:r>
          </a:p>
        </p:txBody>
      </p:sp>
      <p:sp>
        <p:nvSpPr>
          <p:cNvPr id="11" name="TextBox 10">
            <a:hlinkClick r:id="rId3"/>
          </p:cNvPr>
          <p:cNvSpPr txBox="1"/>
          <p:nvPr/>
        </p:nvSpPr>
        <p:spPr>
          <a:xfrm>
            <a:off x="609600" y="5816600"/>
            <a:ext cx="330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007F8B"/>
                </a:solidFill>
                <a:latin typeface="Calibri"/>
              </a:defRPr>
            </a:pPr>
            <a:r>
              <a:t>Rust #164707</a:t>
            </a:r>
          </a:p>
        </p:txBody>
      </p:sp>
      <p:sp>
        <p:nvSpPr>
          <p:cNvPr id="12" name="TextBox 11">
            <a:hlinkClick r:id="rId4"/>
          </p:cNvPr>
          <p:cNvSpPr txBox="1"/>
          <p:nvPr/>
        </p:nvSpPr>
        <p:spPr>
          <a:xfrm>
            <a:off x="4229100" y="5816600"/>
            <a:ext cx="330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007F8B"/>
                </a:solidFill>
                <a:latin typeface="Calibri"/>
              </a:defRPr>
            </a:pPr>
            <a:r>
              <a:t>Rust #165138</a:t>
            </a:r>
          </a:p>
        </p:txBody>
      </p:sp>
      <p:sp>
        <p:nvSpPr>
          <p:cNvPr id="13" name="TextBox 12">
            <a:hlinkClick r:id="rId5"/>
          </p:cNvPr>
          <p:cNvSpPr txBox="1"/>
          <p:nvPr/>
        </p:nvSpPr>
        <p:spPr>
          <a:xfrm>
            <a:off x="7848600" y="5816600"/>
            <a:ext cx="330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007F8B"/>
                </a:solidFill>
                <a:latin typeface="Calibri"/>
              </a:defRPr>
            </a:pPr>
            <a:r>
              <a:t>sccache #2962</a:t>
            </a:r>
          </a:p>
        </p:txBody>
      </p:sp>
    </p:spTree>
    <p:extLst>
      <p:ext uri="{BB962C8B-B14F-4D97-AF65-F5344CB8AC3E}">
        <p14:creationId xmlns:p14="http://schemas.microsoft.com/office/powerpoint/2010/main" val="967713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A6F560-6A05-9D0A-776D-CF76B967477D}"/>
              </a:ext>
            </a:extLst>
          </p:cNvPr>
          <p:cNvSpPr txBox="1"/>
          <p:nvPr/>
        </p:nvSpPr>
        <p:spPr>
          <a:xfrm>
            <a:off x="2286000" y="2782669"/>
            <a:ext cx="7620000" cy="1143000"/>
          </a:xfrm>
          <a:prstGeom prst="rect">
            <a:avLst/>
          </a:prstGeom>
          <a:noFill/>
        </p:spPr>
        <p:txBody>
          <a:bodyPr wrap="square" rtlCol="0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14324F"/>
                </a:solidFill>
                <a:latin typeface="Calibri"/>
              </a:defRPr>
            </a:pPr>
            <a:r>
              <a:t>Appendix:</a:t>
            </a:r>
          </a:p>
          <a:p>
            <a:pPr>
              <a:spcAft>
                <a:spcPts val="300"/>
              </a:spcAft>
              <a:defRPr sz="2400" b="1">
                <a:solidFill>
                  <a:srgbClr val="14324F"/>
                </a:solidFill>
                <a:latin typeface="Calibri"/>
              </a:defRPr>
            </a:pPr>
            <a:r>
              <a:t>Rust production cost and supporting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0600" y="6477000"/>
            <a:ext cx="698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1511270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F2394D-0275-D393-D5D4-46887FD6CCCC}"/>
              </a:ext>
            </a:extLst>
          </p:cNvPr>
          <p:cNvSpPr txBox="1"/>
          <p:nvPr/>
        </p:nvSpPr>
        <p:spPr>
          <a:xfrm>
            <a:off x="609600" y="380999"/>
            <a:ext cx="109728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2700" b="1">
                <a:solidFill>
                  <a:srgbClr val="14324F"/>
                </a:solidFill>
                <a:latin typeface="Calibri"/>
              </a:defRPr>
            </a:pPr>
            <a:r>
              <a:t>Building Rust: fresh-PGO release wall-time breakdown</a:t>
            </a:r>
            <a:endParaRPr lang="en-GB" sz="3100" b="1">
              <a:solidFill>
                <a:srgbClr val="14324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BE6C10-D011-C862-993D-F39BE651E213}"/>
              </a:ext>
            </a:extLst>
          </p:cNvPr>
          <p:cNvSpPr txBox="1"/>
          <p:nvPr/>
        </p:nvSpPr>
        <p:spPr>
          <a:xfrm>
            <a:off x="609600" y="10794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06072"/>
                </a:solidFill>
                <a:latin typeface="Calibri"/>
              </a:defRPr>
            </a:pPr>
            <a:r>
              <a:t>25 October; D: NVMe / 16 LP; current PR plus dry-run prerequisite; Microsoft tools retained</a:t>
            </a:r>
            <a:endParaRPr lang="en-GB" sz="1500" dirty="0">
              <a:solidFill>
                <a:srgbClr val="506072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9A48DA-471A-B656-DDB9-252B03DF5E3D}"/>
              </a:ext>
            </a:extLst>
          </p:cNvPr>
          <p:cNvSpPr/>
          <p:nvPr/>
        </p:nvSpPr>
        <p:spPr>
          <a:xfrm>
            <a:off x="609600" y="1511300"/>
            <a:ext cx="10972800" cy="38100"/>
          </a:xfrm>
          <a:prstGeom prst="rect">
            <a:avLst/>
          </a:prstGeom>
          <a:solidFill>
            <a:srgbClr val="007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onclusion">
            <a:extLst>
              <a:ext uri="{FF2B5EF4-FFF2-40B4-BE49-F238E27FC236}">
                <a16:creationId xmlns:a16="http://schemas.microsoft.com/office/drawing/2014/main" id="{852245F7-0F92-AC86-328A-15B5DCF4C648}"/>
              </a:ext>
            </a:extLst>
          </p:cNvPr>
          <p:cNvSpPr txBox="1"/>
          <p:nvPr/>
        </p:nvSpPr>
        <p:spPr>
          <a:xfrm>
            <a:off x="609600" y="5562600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007F8B"/>
                </a:solidFill>
                <a:latin typeface="Calibri"/>
              </a:defRPr>
            </a:pPr>
            <a:r>
              <a:t>2h24m37s production excluding tests; 2h59m01s whole job.</a:t>
            </a:r>
          </a:p>
        </p:txBody>
      </p:sp>
      <p:sp>
        <p:nvSpPr>
          <p:cNvPr id="7" name="Note-462">
            <a:extLst>
              <a:ext uri="{FF2B5EF4-FFF2-40B4-BE49-F238E27FC236}">
                <a16:creationId xmlns:a16="http://schemas.microsoft.com/office/drawing/2014/main" id="{7DE430F3-3A9C-0B99-86C6-1CD169ABA92F}"/>
              </a:ext>
            </a:extLst>
          </p:cNvPr>
          <p:cNvSpPr txBox="1"/>
          <p:nvPr/>
        </p:nvSpPr>
        <p:spPr>
          <a:xfrm>
            <a:off x="609600" y="6032500"/>
            <a:ext cx="10972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06072"/>
                </a:solidFill>
                <a:latin typeface="Calibri"/>
              </a:defRPr>
            </a:pPr>
            <a:r>
              <a:t>25,648 tests passed; 20 distribution files. Stage wall, not raw compile CPU; includes training/packaging.</a:t>
            </a:r>
            <a:endParaRPr lang="en-GB" sz="1600">
              <a:solidFill>
                <a:srgbClr val="506072"/>
              </a:solidFill>
              <a:latin typeface="Calibri" panose="020F0502020204030204" pitchFamily="34" charset="0"/>
            </a:endParaRPr>
          </a:p>
        </p:txBody>
      </p:sp>
      <p:sp>
        <p:nvSpPr>
          <p:cNvPr id="9" name="Evidence">
            <a:hlinkClick r:id="rId2"/>
            <a:extLst>
              <a:ext uri="{FF2B5EF4-FFF2-40B4-BE49-F238E27FC236}">
                <a16:creationId xmlns:a16="http://schemas.microsoft.com/office/drawing/2014/main" id="{3CBCDBD9-0497-1D40-4D16-6B37A142B3D4}"/>
              </a:ext>
            </a:extLst>
          </p:cNvPr>
          <p:cNvSpPr txBox="1"/>
          <p:nvPr/>
        </p:nvSpPr>
        <p:spPr>
          <a:xfrm>
            <a:off x="609600" y="6477000"/>
            <a:ext cx="1041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t>Run 40170434889; no compiler-cache service. Does not establish cache-corrected hosted duration.</a:t>
            </a:r>
            <a:endParaRPr lang="en-GB" sz="1000">
              <a:solidFill>
                <a:srgbClr val="506072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9630DD26-5362-2608-A28F-1C19F6302D1B}"/>
              </a:ext>
            </a:extLst>
          </p:cNvPr>
          <p:cNvSpPr txBox="1"/>
          <p:nvPr/>
        </p:nvSpPr>
        <p:spPr>
          <a:xfrm>
            <a:off x="11150600" y="6477000"/>
            <a:ext cx="635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12 / 14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9600" y="1752600"/>
          <a:ext cx="10972800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0"/>
                <a:gridCol w="1930400"/>
                <a:gridCol w="1930400"/>
              </a:tblGrid>
              <a:tr h="3683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 / explicitly labelled total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Seconds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Minutes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Rust-side PGO (builds + profile collection)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4066.980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67.78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LLVM PGO (instrumented compiler + collection)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1435.190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23.92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Final distribution (compilation + packaging)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2959.670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49.33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Extracted-distribution tests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546.800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9.11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Helper / other measured orchestration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215.157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3.59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Production plus tests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9223.797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153.73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Setup / uploads / remaining job overhead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1517.203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25.29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Whole release job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10741.000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179.02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10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ports: overview and compiler evid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10972800" cy="584200"/>
          </a:xfr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900" b="1">
                <a:solidFill>
                  <a:srgbClr val="14324F"/>
                </a:solidFill>
                <a:latin typeface="Calibri"/>
              </a:rPr>
              <a:t>Reports: overview and compiler evidence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16000"/>
            <a:ext cx="10972800" cy="482600"/>
          </a:xfr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506072"/>
                </a:solidFill>
                <a:latin typeface="Calibri"/>
              </a:defRPr>
            </a:pPr>
            <a:r>
              <a:t>marcpems/IronRDP-ci-benchmark | experiment/x64-pgo-1991</a:t>
            </a:r>
          </a:p>
          <a:p>
            <a:pPr>
              <a:spcAft>
                <a:spcPts val="300"/>
              </a:spcAft>
              <a:defRPr sz="1300" b="0">
                <a:solidFill>
                  <a:srgbClr val="506072"/>
                </a:solidFill>
                <a:latin typeface="Calibri"/>
              </a:defRPr>
            </a:pPr>
            <a:r>
              <a:t>Click a filename; all current reports are on the same branch.</a:t>
            </a:r>
          </a:p>
        </p:txBody>
      </p:sp>
      <p:sp>
        <p:nvSpPr>
          <p:cNvPr id="4" name="Separator"/>
          <p:cNvSpPr txBox="1"/>
          <p:nvPr/>
        </p:nvSpPr>
        <p:spPr>
          <a:xfrm>
            <a:off x="609600" y="1600200"/>
            <a:ext cx="10972800" cy="38100"/>
          </a:xfrm>
          <a:prstGeom prst="rect">
            <a:avLst/>
          </a:prstGeom>
          <a:solidFill>
            <a:srgbClr val="007F8B"/>
          </a:solidFill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graphicFrame>
        <p:nvGraphicFramePr>
          <p:cNvPr id="5" name="Report index"/>
          <p:cNvGraphicFramePr/>
          <p:nvPr/>
        </p:nvGraphicFramePr>
        <p:xfrm>
          <a:off x="609600" y="1727200"/>
          <a:ext cx="1097280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Calibri"/>
                        </a:rPr>
                        <a:t>Report / evidence</a:t>
                      </a:r>
                    </a:p>
                  </a:txBody>
                  <a:tcPr marL="101600" marR="1016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101600" marR="1016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101600" marR="101600" marT="50800" marB="50800" anchor="ctr">
                    <a:solidFill>
                      <a:srgbClr val="14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Current synthesis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3"/>
                        </a:rPr>
                        <a:t>INVESTIGATION-SUMMARY.md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Updated 30 October;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scopes, results and limits.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Combined Word report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4"/>
                        </a:rPr>
                        <a:t>matched-release/</a:t>
                      </a:r>
                    </a:p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4"/>
                        </a:rPr>
                        <a:t>Rust-Optimization-Combined-Report-30Oct2026.docx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Updated 30 October;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detailed tables and evidence.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1.94.1 LLVM profile only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5"/>
                        </a:rPr>
                        <a:t>X64-PROFILE-ONLY.md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Same Microsoft tools;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13.73% IronRDP saving.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1.99.1 revalidation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6"/>
                        </a:rPr>
                        <a:t>X64-PGO-1991.md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Same Microsoft tools;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12.93% IronRDP saving.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Fresh artifact / release cost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7"/>
                        </a:rPr>
                        <a:t>X64-PGO-COMPARISON.md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18.0% consumer benefit;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2.71% / 4.00% release cost.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Original OS comparison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8"/>
                        </a:rPr>
                        <a:t>REPORT.md</a:t>
                      </a:r>
                    </a:p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9"/>
                        </a:rPr>
                        <a:t>NATIVE-BREAKDOWN.md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Offline IronRDP on Windows/Linux;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five-command breakdown.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Earlier compiler findings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20"/>
                        </a:rPr>
                        <a:t>COMBINED-REPORT.md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Historical PGO/LTO detail;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current synthesis takes precedence.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Late evidence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21"/>
                        </a:rPr>
                        <a:t>later-pgo-evidence.zip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Release qualification, artifact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replay and cache reproduction.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ources"/>
          <p:cNvSpPr txBox="1"/>
          <p:nvPr/>
        </p:nvSpPr>
        <p:spPr>
          <a:xfrm>
            <a:off x="609600" y="6489700"/>
            <a:ext cx="9499600" cy="317500"/>
          </a:xfr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06072"/>
                </a:solidFill>
                <a:latin typeface="Calibri"/>
              </a:defRPr>
            </a:pPr>
            <a:r>
              <a:t>Current report links use experiment/x64-pgo-1991; the original CI audit is explicitly historical.</a:t>
            </a:r>
          </a:p>
          <a:p>
            <a:pPr>
              <a:spcAft>
                <a:spcPts val="300"/>
              </a:spcAft>
              <a:defRPr sz="900" b="0">
                <a:solidFill>
                  <a:srgbClr val="506072"/>
                </a:solidFill>
                <a:latin typeface="Calibri"/>
              </a:defRPr>
            </a:pPr>
            <a:r>
              <a:t>PowerPoint and combined Word refreshed 30 October; other Office reports remain historical.</a:t>
            </a:r>
          </a:p>
        </p:txBody>
      </p:sp>
      <p:sp>
        <p:nvSpPr>
          <p:cNvPr id="7" name="Index number"/>
          <p:cNvSpPr txBox="1"/>
          <p:nvPr/>
        </p:nvSpPr>
        <p:spPr>
          <a:xfrm>
            <a:off x="10464800" y="6540500"/>
            <a:ext cx="1219200" cy="228600"/>
          </a:xfr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13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ports: release production and supporting evid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10972800" cy="584200"/>
          </a:xfr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900" b="1">
                <a:solidFill>
                  <a:srgbClr val="14324F"/>
                </a:solidFill>
                <a:latin typeface="Calibri"/>
              </a:rPr>
              <a:t>Reports: release production and supporting evidence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16000"/>
            <a:ext cx="10972800" cy="482600"/>
          </a:xfr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506072"/>
                </a:solidFill>
                <a:latin typeface="Calibri"/>
              </a:defRPr>
            </a:pPr>
            <a:r>
              <a:t>marcpems/IronRDP-ci-benchmark | experiment/x64-pgo-1991</a:t>
            </a:r>
          </a:p>
          <a:p>
            <a:pPr>
              <a:spcAft>
                <a:spcPts val="300"/>
              </a:spcAft>
              <a:defRPr sz="1300" b="0">
                <a:solidFill>
                  <a:srgbClr val="506072"/>
                </a:solidFill>
                <a:latin typeface="Calibri"/>
              </a:defRPr>
            </a:pPr>
            <a:r>
              <a:t>Click a filename; all current reports are on the same branch.</a:t>
            </a:r>
          </a:p>
        </p:txBody>
      </p:sp>
      <p:sp>
        <p:nvSpPr>
          <p:cNvPr id="4" name="Separator"/>
          <p:cNvSpPr txBox="1"/>
          <p:nvPr/>
        </p:nvSpPr>
        <p:spPr>
          <a:xfrm>
            <a:off x="609600" y="1600200"/>
            <a:ext cx="10972800" cy="38100"/>
          </a:xfrm>
          <a:prstGeom prst="rect">
            <a:avLst/>
          </a:prstGeom>
          <a:solidFill>
            <a:srgbClr val="007F8B"/>
          </a:solidFill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graphicFrame>
        <p:nvGraphicFramePr>
          <p:cNvPr id="5" name="Report index"/>
          <p:cNvGraphicFramePr/>
          <p:nvPr/>
        </p:nvGraphicFramePr>
        <p:xfrm>
          <a:off x="609600" y="1727200"/>
          <a:ext cx="1097280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Calibri"/>
                        </a:rPr>
                        <a:t>Report / evidence</a:t>
                      </a:r>
                    </a:p>
                  </a:txBody>
                  <a:tcPr marL="101600" marR="1016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101600" marR="1016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101600" marR="101600" marT="50800" marB="50800" anchor="ctr">
                    <a:solidFill>
                      <a:srgbClr val="14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New x64 NVMe study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3"/>
                        </a:rPr>
                        <a:t>x64-nvme-scaling-protocol.json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Fresh 16 / 8 / 4 LP;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run in progress, not results.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Full release / Arm64 scaling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4"/>
                        </a:rPr>
                        <a:t>matched-release/README.md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Historical qualified releases;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not new x64 scaling results.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Pilot measurements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5"/>
                        </a:rPr>
                        <a:t>matched-release/selfhost-pilot-results.json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Nine release pilots;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no-PGO control denominator.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GB300 cost decomposition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6"/>
                        </a:rPr>
                        <a:t>matched-release/gb300-release-costs.json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Exclusive production categories;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packaging dominates.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Upstream scheduling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7"/>
                        </a:rPr>
                        <a:t>upstream-release-throughput/README.md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No repeatable useful gain;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retain upstream defaults.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Microsoft-tool path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8"/>
                        </a:rPr>
                        <a:t>msvc-linker/README.md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Linking compatibility and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profiling-runtime repairs.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Original CI audit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9"/>
                        </a:rPr>
                        <a:t>build-time/README.md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Historical 313-job audit;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explicit historical commit.</a:t>
                      </a:r>
                    </a:p>
                  </a:txBody>
                  <a:tcPr marL="101600" marR="101600" marT="50800" marB="50800" anchor="ctr">
                    <a:solidFill>
                      <a:srgbClr val="EF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Other Word brief (historical)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9"/>
                        </a:rPr>
                        <a:t>matched-release/</a:t>
                      </a:r>
                    </a:p>
                    <a:p>
                      <a:pPr>
                        <a:defRPr sz="1150">
                          <a:solidFill>
                            <a:srgbClr val="007F8B"/>
                          </a:solidFill>
                          <a:latin typeface="Calibri"/>
                        </a:defRPr>
                      </a:pPr>
                      <a:r>
                        <a:rPr>
                          <a:hlinkClick r:id="rId19"/>
                        </a:rPr>
                        <a:t>Rust-Compiler-Optimization-Maintainer-Brief.docx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Earlier proposal/pilots;</a:t>
                      </a:r>
                    </a:p>
                    <a:p>
                      <a:pPr>
                        <a:defRPr sz="12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not updated by this refresh.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ources"/>
          <p:cNvSpPr txBox="1"/>
          <p:nvPr/>
        </p:nvSpPr>
        <p:spPr>
          <a:xfrm>
            <a:off x="609600" y="6489700"/>
            <a:ext cx="9499600" cy="317500"/>
          </a:xfr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06072"/>
                </a:solidFill>
                <a:latin typeface="Calibri"/>
              </a:defRPr>
            </a:pPr>
            <a:r>
              <a:t>Current report links use experiment/x64-pgo-1991; the original CI audit is explicitly historical.</a:t>
            </a:r>
          </a:p>
          <a:p>
            <a:pPr>
              <a:spcAft>
                <a:spcPts val="300"/>
              </a:spcAft>
              <a:defRPr sz="900" b="0">
                <a:solidFill>
                  <a:srgbClr val="506072"/>
                </a:solidFill>
                <a:latin typeface="Calibri"/>
              </a:defRPr>
            </a:pPr>
            <a:r>
              <a:t>PowerPoint and combined Word refreshed 30 October; other Office reports remain historical.</a:t>
            </a:r>
          </a:p>
        </p:txBody>
      </p:sp>
      <p:sp>
        <p:nvSpPr>
          <p:cNvPr id="7" name="Index number"/>
          <p:cNvSpPr txBox="1"/>
          <p:nvPr/>
        </p:nvSpPr>
        <p:spPr>
          <a:xfrm>
            <a:off x="10464800" y="6540500"/>
            <a:ext cx="1219200" cy="228600"/>
          </a:xfr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14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324F"/>
                </a:solidFill>
                <a:latin typeface="Calibri"/>
              </a:defRPr>
            </a:pPr>
            <a:pPr>
              <a:spcAft>
                <a:spcPts val="300"/>
              </a:spcAft>
              <a:defRPr sz="2800" b="1">
                <a:solidFill>
                  <a:srgbClr val="14324F"/>
                </a:solidFill>
                <a:latin typeface="Calibri"/>
              </a:defRPr>
            </a:pPr>
            <a:r>
              <a:rPr sz="2800"/>
              <a:t>Rust-only ThinLTO: no incremental IronRDP wall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79500"/>
            <a:ext cx="109728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500" b="0">
                <a:solidFill>
                  <a:srgbClr val="506072"/>
                </a:solidFill>
                <a:latin typeface="Calibri"/>
              </a:defRPr>
            </a:pPr>
            <a:r>
              <a:rPr sz="1500"/>
              <a:t>Repaired frozen PGO; Microsoft native tools retained; only Rust thin-local -&gt; thin changes.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752600"/>
          <a:ext cx="10972800" cy="23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0"/>
                <a:gridCol w="3352800"/>
                <a:gridCol w="3302000"/>
              </a:tblGrid>
              <a:tr h="58420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Three rounds, mean per block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Repaired PGO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Rust-only ThinLTO</a:t>
                      </a:r>
                    </a:p>
                  </a:txBody>
                  <a:tcPr marL="101600" marR="76200" marT="50800" marB="50800" anchor="ctr">
                    <a:solidFill>
                      <a:srgbClr val="14324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IronRDP offline wall seconds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812.586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812.961 (0.05% slower)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Descendant CPU seconds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3141.375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3130.063 (0.36% less)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Paired wall reductions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0.69%, 0.05%, -0.88%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4324F"/>
                          </a:solidFill>
                          <a:latin typeface="Calibri"/>
                        </a:defRPr>
                      </a:pPr>
                      <a:r>
                        <a:t>No meaningful wall gain</a:t>
                      </a:r>
                    </a:p>
                  </a:txBody>
                  <a:tcPr marL="101600" marR="76200" marT="50800" marB="50800" anchor="ctr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085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007F8B"/>
                </a:solidFill>
                <a:latin typeface="Calibri"/>
              </a:defRPr>
            </a:pPr>
            <a:pPr>
              <a:spcAft>
                <a:spcPts val="300"/>
              </a:spcAft>
              <a:defRPr sz="2100" b="1">
                <a:solidFill>
                  <a:srgbClr val="007F8B"/>
                </a:solidFill>
                <a:latin typeface="Calibri"/>
              </a:defRPr>
            </a:pPr>
            <a:r>
              <a:rPr sz="2000"/>
              <a:t>One build pair / one consumer VM: descriptive, not a population estimate.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105400"/>
            <a:ext cx="10972800" cy="1193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rPr sz="1700"/>
              <a:t>Native correctness passed for both arms; fresh targets and alternating order.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rPr sz="1700"/>
              <a:t>Common Cargo; own stdlib with verified identical runtime bytes; no compiler cache.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rPr sz="1700"/>
              <a:t>Compiler/sysroot pilot only: no full-release or doctest qualification.</a:t>
            </a:r>
          </a:p>
          <a:p>
            <a:pPr>
              <a:spcAft>
                <a:spcPts val="300"/>
              </a:spcAft>
              <a:defRPr sz="1800" b="0">
                <a:solidFill>
                  <a:srgbClr val="14324F"/>
                </a:solidFill>
                <a:latin typeface="Calibri"/>
              </a:defRPr>
            </a:pPr>
            <a:r>
              <a:rPr sz="1700"/>
              <a:t>The earlier 7.6% result also enabled LLVM ThinLTO and changed native linking.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609600" y="6477000"/>
            <a:ext cx="10287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Completed consumer 41076640207; detailed results and raw evidence: X64-RUST-THIN-INCREMENTAL.md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0600" y="6477000"/>
            <a:ext cx="698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pPr>
              <a:spcAft>
                <a:spcPts val="300"/>
              </a:spcAft>
              <a:defRPr sz="1000" b="0">
                <a:solidFill>
                  <a:srgbClr val="506072"/>
                </a:solidFill>
                <a:latin typeface="Calibri"/>
              </a:defRPr>
            </a:pPr>
            <a:r>
              <a:rPr sz="1000"/>
              <a:t>3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1250</Words>
  <Application>Microsoft Office PowerPoint</Application>
  <PresentationFormat>Widescreen</PresentationFormat>
  <Paragraphs>227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Perryman</dc:creator>
  <cp:lastModifiedBy>Marcus Perryman</cp:lastModifiedBy>
  <cp:revision>7</cp:revision>
  <dcterms:created xsi:type="dcterms:W3CDTF">2026-10-19T13:33:19Z</dcterms:created>
  <dcterms:modified xsi:type="dcterms:W3CDTF">2026-10-30T12:21:00Z</dcterms:modified>
  <dc:subject>Updated 30 October 2026: same-tools PGO, NVMe Rust production, upstream cache diagnosis</dc:subject>
</cp:coreProperties>
</file>